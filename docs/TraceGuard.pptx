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TraceGuard is a static-analysis tool for our Spring Boot + Apache Camel framework. It never needs the system running. Three tabs mirror a release: Scope (what it touches), Test (proof it works), Impact (what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release forces the same four questions, and today the answers live in different heads and tools. TraceGuard puts all four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tabs are a workflow, not a menu: Scope then Test then Impact. Source can be a local checkout or a Bitbucket branch/tag (the server clones it — no git/helm needed locally). It serves two apps that differ only in their log markers.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answers 'what does this release touch'. The graph shows an API fanning out through routes to its backends, each tagged with the service version. The PDF is the full catalog for release sign-off.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answers 'is it actually tested end-to-end'. We generate the Splunk query, you paste it, export, upload. It ties front-end to backend by correlation id and checks the service version. The PDF is the sign-off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answers 'what changed vs last version'. It catches route diffs, service-version bumps, payload key changes, and attributes each change via git blame. The PDF drives review and decides what to regression-test.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reports share one design language so a single document works for every audience. Scope for readiness, Verification for proof, Impact for change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value per team: business gets go/no-go, dev gets change + authorship, test gets what-to-test + proof, release gets a signed-off record. One tool, from scope to sign-off.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338"/>
        </a:solidFill>
      </p:bgPr>
    </p:bg>
    <p:spTree>
      <p:nvGrpSpPr>
        <p:cNvPr id="1" name=""/>
        <p:cNvGrpSpPr/>
        <p:nvPr/>
      </p:nvGrpSpPr>
      <p:grpSpPr>
        <a:xfrm>
          <a:off x="0" y="0"/>
          <a:ext cx="0" cy="0"/>
          <a:chOff x="0" y="0"/>
          <a:chExt cx="0" cy="0"/>
        </a:xfrm>
      </p:grpSpPr>
      <p:sp>
        <p:nvSpPr>
          <p:cNvPr id="2" name="Text 0"/>
          <p:cNvSpPr/>
          <p:nvPr/>
        </p:nvSpPr>
        <p:spPr>
          <a:xfrm>
            <a:off x="822960" y="2011680"/>
            <a:ext cx="7863840" cy="109728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Trace</a:t>
            </a:r>
            <a:pPr indent="0" marL="0">
              <a:buNone/>
            </a:pPr>
            <a:r>
              <a:rPr lang="en-US" sz="6000" b="1" dirty="0">
                <a:solidFill>
                  <a:srgbClr val="12A99A"/>
                </a:solidFill>
                <a:latin typeface="Cambria" pitchFamily="34" charset="0"/>
                <a:ea typeface="Cambria" pitchFamily="34" charset="-122"/>
                <a:cs typeface="Cambria" pitchFamily="34" charset="-120"/>
              </a:rPr>
              <a:t>Guard</a:t>
            </a:r>
            <a:endParaRPr lang="en-US" sz="6000" dirty="0"/>
          </a:p>
        </p:txBody>
      </p:sp>
      <p:sp>
        <p:nvSpPr>
          <p:cNvPr id="3" name="Text 1"/>
          <p:cNvSpPr/>
          <p:nvPr/>
        </p:nvSpPr>
        <p:spPr>
          <a:xfrm>
            <a:off x="859536" y="3154680"/>
            <a:ext cx="8229600" cy="457200"/>
          </a:xfrm>
          <a:prstGeom prst="rect">
            <a:avLst/>
          </a:prstGeom>
          <a:noFill/>
          <a:ln/>
        </p:spPr>
        <p:txBody>
          <a:bodyPr wrap="square" lIns="0" tIns="0" rIns="0" bIns="0" rtlCol="0" anchor="ctr"/>
          <a:lstStyle/>
          <a:p>
            <a:pPr indent="0" marL="0">
              <a:buNone/>
            </a:pPr>
            <a:r>
              <a:rPr lang="en-US" sz="2100" i="1" dirty="0">
                <a:solidFill>
                  <a:srgbClr val="CFE0F3"/>
                </a:solidFill>
                <a:latin typeface="Calibri" pitchFamily="34" charset="0"/>
                <a:ea typeface="Calibri" pitchFamily="34" charset="-122"/>
                <a:cs typeface="Calibri" pitchFamily="34" charset="-120"/>
              </a:rPr>
              <a:t>Trace the flow.  Guard the release.</a:t>
            </a:r>
            <a:endParaRPr lang="en-US" sz="2100" dirty="0"/>
          </a:p>
        </p:txBody>
      </p:sp>
      <p:sp>
        <p:nvSpPr>
          <p:cNvPr id="4" name="Text 2"/>
          <p:cNvSpPr/>
          <p:nvPr/>
        </p:nvSpPr>
        <p:spPr>
          <a:xfrm>
            <a:off x="859536" y="3794760"/>
            <a:ext cx="7223760" cy="914400"/>
          </a:xfrm>
          <a:prstGeom prst="rect">
            <a:avLst/>
          </a:prstGeom>
          <a:noFill/>
          <a:ln/>
        </p:spPr>
        <p:txBody>
          <a:bodyPr wrap="square" lIns="0" tIns="0" rIns="0" bIns="0" rtlCol="0" anchor="ctr"/>
          <a:lstStyle/>
          <a:p>
            <a:pPr indent="0" marL="0">
              <a:lnSpc>
                <a:spcPct val="115000"/>
              </a:lnSpc>
              <a:buNone/>
            </a:pPr>
            <a:r>
              <a:rPr lang="en-US" sz="1450" dirty="0">
                <a:solidFill>
                  <a:srgbClr val="9DB3C9"/>
                </a:solidFill>
                <a:latin typeface="Calibri" pitchFamily="34" charset="0"/>
                <a:ea typeface="Calibri" pitchFamily="34" charset="-122"/>
                <a:cs typeface="Calibri" pitchFamily="34" charset="-120"/>
              </a:rPr>
              <a:t>Static release intelligence for Spring Boot + Apache Camel (XML DSL). One shared view of every release — for business, dev, test and release teams.</a:t>
            </a:r>
            <a:endParaRPr lang="en-US" sz="1450" dirty="0"/>
          </a:p>
        </p:txBody>
      </p:sp>
      <p:sp>
        <p:nvSpPr>
          <p:cNvPr id="5" name="Shape 3"/>
          <p:cNvSpPr/>
          <p:nvPr/>
        </p:nvSpPr>
        <p:spPr>
          <a:xfrm>
            <a:off x="8988552" y="2514600"/>
            <a:ext cx="576072" cy="0"/>
          </a:xfrm>
          <a:prstGeom prst="line">
            <a:avLst/>
          </a:prstGeom>
          <a:noFill/>
          <a:ln w="22225">
            <a:solidFill>
              <a:srgbClr val="5E7488"/>
            </a:solidFill>
            <a:prstDash val="solid"/>
            <a:tailEnd type="triangle"/>
          </a:ln>
        </p:spPr>
      </p:sp>
      <p:sp>
        <p:nvSpPr>
          <p:cNvPr id="6" name="Shape 4"/>
          <p:cNvSpPr/>
          <p:nvPr/>
        </p:nvSpPr>
        <p:spPr>
          <a:xfrm>
            <a:off x="10186416" y="2514600"/>
            <a:ext cx="576072" cy="0"/>
          </a:xfrm>
          <a:prstGeom prst="line">
            <a:avLst/>
          </a:prstGeom>
          <a:noFill/>
          <a:ln w="22225">
            <a:solidFill>
              <a:srgbClr val="5E7488"/>
            </a:solidFill>
            <a:prstDash val="solid"/>
            <a:tailEnd type="triangle"/>
          </a:ln>
        </p:spPr>
      </p:sp>
      <p:sp>
        <p:nvSpPr>
          <p:cNvPr id="7" name="Shape 5"/>
          <p:cNvSpPr/>
          <p:nvPr/>
        </p:nvSpPr>
        <p:spPr>
          <a:xfrm>
            <a:off x="8366760" y="2203704"/>
            <a:ext cx="621792" cy="621792"/>
          </a:xfrm>
          <a:prstGeom prst="ellipse">
            <a:avLst/>
          </a:prstGeom>
          <a:solidFill>
            <a:srgbClr val="12A99A"/>
          </a:solidFill>
          <a:ln w="19050">
            <a:solidFill>
              <a:srgbClr val="FFFFFF"/>
            </a:solidFill>
            <a:prstDash val="solid"/>
          </a:ln>
          <a:effectLst>
            <a:outerShdw sx="100000" sy="100000" kx="0" ky="0" algn="bl" rotWithShape="0" blurRad="88900" dist="38100" dir="5400000">
              <a:srgbClr val="9AA9B8">
                <a:alpha val="28000"/>
              </a:srgbClr>
            </a:outerShdw>
          </a:effectLst>
        </p:spPr>
      </p:sp>
      <p:sp>
        <p:nvSpPr>
          <p:cNvPr id="8" name="Text 6"/>
          <p:cNvSpPr/>
          <p:nvPr/>
        </p:nvSpPr>
        <p:spPr>
          <a:xfrm>
            <a:off x="7854696" y="2871216"/>
            <a:ext cx="1645920" cy="237744"/>
          </a:xfrm>
          <a:prstGeom prst="rect">
            <a:avLst/>
          </a:prstGeom>
          <a:noFill/>
          <a:ln/>
        </p:spPr>
        <p:txBody>
          <a:bodyPr wrap="square" lIns="0" tIns="0" rIns="0" bIns="0" rtlCol="0" anchor="ctr"/>
          <a:lstStyle/>
          <a:p>
            <a:pPr algn="ctr" indent="0" marL="0">
              <a:buNone/>
            </a:pPr>
            <a:r>
              <a:rPr lang="en-US" sz="950" b="1" dirty="0">
                <a:solidFill>
                  <a:srgbClr val="CFE0F3"/>
                </a:solidFill>
                <a:latin typeface="Calibri" pitchFamily="34" charset="0"/>
                <a:ea typeface="Calibri" pitchFamily="34" charset="-122"/>
                <a:cs typeface="Calibri" pitchFamily="34" charset="-120"/>
              </a:rPr>
              <a:t>API</a:t>
            </a:r>
            <a:endParaRPr lang="en-US" sz="950" dirty="0"/>
          </a:p>
        </p:txBody>
      </p:sp>
      <p:sp>
        <p:nvSpPr>
          <p:cNvPr id="9" name="Shape 7"/>
          <p:cNvSpPr/>
          <p:nvPr/>
        </p:nvSpPr>
        <p:spPr>
          <a:xfrm>
            <a:off x="9564624" y="2203704"/>
            <a:ext cx="621792" cy="621792"/>
          </a:xfrm>
          <a:prstGeom prst="ellipse">
            <a:avLst/>
          </a:prstGeom>
          <a:solidFill>
            <a:srgbClr val="2E6CA4"/>
          </a:solidFill>
          <a:ln w="19050">
            <a:solidFill>
              <a:srgbClr val="FFFFFF"/>
            </a:solidFill>
            <a:prstDash val="solid"/>
          </a:ln>
          <a:effectLst>
            <a:outerShdw sx="100000" sy="100000" kx="0" ky="0" algn="bl" rotWithShape="0" blurRad="88900" dist="38100" dir="5400000">
              <a:srgbClr val="9AA9B8">
                <a:alpha val="28000"/>
              </a:srgbClr>
            </a:outerShdw>
          </a:effectLst>
        </p:spPr>
      </p:sp>
      <p:sp>
        <p:nvSpPr>
          <p:cNvPr id="10" name="Text 8"/>
          <p:cNvSpPr/>
          <p:nvPr/>
        </p:nvSpPr>
        <p:spPr>
          <a:xfrm>
            <a:off x="9052560" y="2871216"/>
            <a:ext cx="1645920" cy="237744"/>
          </a:xfrm>
          <a:prstGeom prst="rect">
            <a:avLst/>
          </a:prstGeom>
          <a:noFill/>
          <a:ln/>
        </p:spPr>
        <p:txBody>
          <a:bodyPr wrap="square" lIns="0" tIns="0" rIns="0" bIns="0" rtlCol="0" anchor="ctr"/>
          <a:lstStyle/>
          <a:p>
            <a:pPr algn="ctr" indent="0" marL="0">
              <a:buNone/>
            </a:pPr>
            <a:r>
              <a:rPr lang="en-US" sz="950" b="1" dirty="0">
                <a:solidFill>
                  <a:srgbClr val="CFE0F3"/>
                </a:solidFill>
                <a:latin typeface="Calibri" pitchFamily="34" charset="0"/>
                <a:ea typeface="Calibri" pitchFamily="34" charset="-122"/>
                <a:cs typeface="Calibri" pitchFamily="34" charset="-120"/>
              </a:rPr>
              <a:t>ROUTE</a:t>
            </a:r>
            <a:endParaRPr lang="en-US" sz="950" dirty="0"/>
          </a:p>
        </p:txBody>
      </p:sp>
      <p:sp>
        <p:nvSpPr>
          <p:cNvPr id="11" name="Shape 9"/>
          <p:cNvSpPr/>
          <p:nvPr/>
        </p:nvSpPr>
        <p:spPr>
          <a:xfrm>
            <a:off x="10762488" y="2203704"/>
            <a:ext cx="621792" cy="621792"/>
          </a:xfrm>
          <a:prstGeom prst="ellipse">
            <a:avLst/>
          </a:prstGeom>
          <a:solidFill>
            <a:srgbClr val="163B5B"/>
          </a:solidFill>
          <a:ln w="19050">
            <a:solidFill>
              <a:srgbClr val="FFFFFF"/>
            </a:solidFill>
            <a:prstDash val="solid"/>
          </a:ln>
          <a:effectLst>
            <a:outerShdw sx="100000" sy="100000" kx="0" ky="0" algn="bl" rotWithShape="0" blurRad="88900" dist="38100" dir="5400000">
              <a:srgbClr val="9AA9B8">
                <a:alpha val="28000"/>
              </a:srgbClr>
            </a:outerShdw>
          </a:effectLst>
        </p:spPr>
      </p:sp>
      <p:sp>
        <p:nvSpPr>
          <p:cNvPr id="12" name="Text 10"/>
          <p:cNvSpPr/>
          <p:nvPr/>
        </p:nvSpPr>
        <p:spPr>
          <a:xfrm>
            <a:off x="10250424" y="2871216"/>
            <a:ext cx="1645920" cy="237744"/>
          </a:xfrm>
          <a:prstGeom prst="rect">
            <a:avLst/>
          </a:prstGeom>
          <a:noFill/>
          <a:ln/>
        </p:spPr>
        <p:txBody>
          <a:bodyPr wrap="square" lIns="0" tIns="0" rIns="0" bIns="0" rtlCol="0" anchor="ctr"/>
          <a:lstStyle/>
          <a:p>
            <a:pPr algn="ctr" indent="0" marL="0">
              <a:buNone/>
            </a:pPr>
            <a:r>
              <a:rPr lang="en-US" sz="950" b="1" dirty="0">
                <a:solidFill>
                  <a:srgbClr val="CFE0F3"/>
                </a:solidFill>
                <a:latin typeface="Calibri" pitchFamily="34" charset="0"/>
                <a:ea typeface="Calibri" pitchFamily="34" charset="-122"/>
                <a:cs typeface="Calibri" pitchFamily="34" charset="-120"/>
              </a:rPr>
              <a:t>BACKEND</a:t>
            </a:r>
            <a:endParaRPr lang="en-US" sz="950" dirty="0"/>
          </a:p>
        </p:txBody>
      </p:sp>
      <p:sp>
        <p:nvSpPr>
          <p:cNvPr id="13" name="Shape 11"/>
          <p:cNvSpPr/>
          <p:nvPr/>
        </p:nvSpPr>
        <p:spPr>
          <a:xfrm>
            <a:off x="859536" y="5440680"/>
            <a:ext cx="2468880" cy="502920"/>
          </a:xfrm>
          <a:prstGeom prst="roundRect">
            <a:avLst>
              <a:gd name="adj" fmla="val 18182"/>
            </a:avLst>
          </a:prstGeom>
          <a:solidFill>
            <a:srgbClr val="17324B"/>
          </a:solidFill>
          <a:ln w="12700">
            <a:solidFill>
              <a:srgbClr val="12A99A"/>
            </a:solidFill>
            <a:prstDash val="solid"/>
          </a:ln>
        </p:spPr>
      </p:sp>
      <p:sp>
        <p:nvSpPr>
          <p:cNvPr id="14" name="Text 12"/>
          <p:cNvSpPr/>
          <p:nvPr/>
        </p:nvSpPr>
        <p:spPr>
          <a:xfrm>
            <a:off x="859536" y="5440680"/>
            <a:ext cx="2468880" cy="502920"/>
          </a:xfrm>
          <a:prstGeom prst="rect">
            <a:avLst/>
          </a:prstGeom>
          <a:noFill/>
          <a:ln/>
        </p:spPr>
        <p:txBody>
          <a:bodyPr wrap="square" lIns="0" tIns="0" rIns="0" bIns="0" rtlCol="0" anchor="ctr"/>
          <a:lstStyle/>
          <a:p>
            <a:pPr algn="ctr" indent="0" marL="0">
              <a:buNone/>
            </a:pPr>
            <a:r>
              <a:rPr lang="en-US" sz="1300" b="1" dirty="0">
                <a:solidFill>
                  <a:srgbClr val="CFE0F3"/>
                </a:solidFill>
                <a:latin typeface="Calibri" pitchFamily="34" charset="0"/>
                <a:ea typeface="Calibri" pitchFamily="34" charset="-122"/>
                <a:cs typeface="Calibri" pitchFamily="34" charset="-120"/>
              </a:rPr>
              <a:t>Release Scope</a:t>
            </a:r>
            <a:endParaRPr lang="en-US" sz="1300" dirty="0"/>
          </a:p>
        </p:txBody>
      </p:sp>
      <p:sp>
        <p:nvSpPr>
          <p:cNvPr id="15" name="Text 13"/>
          <p:cNvSpPr/>
          <p:nvPr/>
        </p:nvSpPr>
        <p:spPr>
          <a:xfrm>
            <a:off x="3328416" y="5440680"/>
            <a:ext cx="182880" cy="502920"/>
          </a:xfrm>
          <a:prstGeom prst="rect">
            <a:avLst/>
          </a:prstGeom>
          <a:noFill/>
          <a:ln/>
        </p:spPr>
        <p:txBody>
          <a:bodyPr wrap="square" lIns="0" tIns="0" rIns="0" bIns="0" rtlCol="0" anchor="ctr"/>
          <a:lstStyle/>
          <a:p>
            <a:pPr algn="ctr" indent="0" marL="0">
              <a:buNone/>
            </a:pPr>
            <a:r>
              <a:rPr lang="en-US" sz="1600" dirty="0">
                <a:solidFill>
                  <a:srgbClr val="12A99A"/>
                </a:solidFill>
              </a:rPr>
              <a:t>→</a:t>
            </a:r>
            <a:endParaRPr lang="en-US" sz="1600" dirty="0"/>
          </a:p>
        </p:txBody>
      </p:sp>
      <p:sp>
        <p:nvSpPr>
          <p:cNvPr id="16" name="Shape 14"/>
          <p:cNvSpPr/>
          <p:nvPr/>
        </p:nvSpPr>
        <p:spPr>
          <a:xfrm>
            <a:off x="3511296" y="5440680"/>
            <a:ext cx="2468880" cy="502920"/>
          </a:xfrm>
          <a:prstGeom prst="roundRect">
            <a:avLst>
              <a:gd name="adj" fmla="val 18182"/>
            </a:avLst>
          </a:prstGeom>
          <a:solidFill>
            <a:srgbClr val="17324B"/>
          </a:solidFill>
          <a:ln w="12700">
            <a:solidFill>
              <a:srgbClr val="12A99A"/>
            </a:solidFill>
            <a:prstDash val="solid"/>
          </a:ln>
        </p:spPr>
      </p:sp>
      <p:sp>
        <p:nvSpPr>
          <p:cNvPr id="17" name="Text 15"/>
          <p:cNvSpPr/>
          <p:nvPr/>
        </p:nvSpPr>
        <p:spPr>
          <a:xfrm>
            <a:off x="3511296" y="5440680"/>
            <a:ext cx="2468880" cy="502920"/>
          </a:xfrm>
          <a:prstGeom prst="rect">
            <a:avLst/>
          </a:prstGeom>
          <a:noFill/>
          <a:ln/>
        </p:spPr>
        <p:txBody>
          <a:bodyPr wrap="square" lIns="0" tIns="0" rIns="0" bIns="0" rtlCol="0" anchor="ctr"/>
          <a:lstStyle/>
          <a:p>
            <a:pPr algn="ctr" indent="0" marL="0">
              <a:buNone/>
            </a:pPr>
            <a:r>
              <a:rPr lang="en-US" sz="1300" b="1" dirty="0">
                <a:solidFill>
                  <a:srgbClr val="CFE0F3"/>
                </a:solidFill>
                <a:latin typeface="Calibri" pitchFamily="34" charset="0"/>
                <a:ea typeface="Calibri" pitchFamily="34" charset="-122"/>
                <a:cs typeface="Calibri" pitchFamily="34" charset="-120"/>
              </a:rPr>
              <a:t>Release Test</a:t>
            </a:r>
            <a:endParaRPr lang="en-US" sz="1300" dirty="0"/>
          </a:p>
        </p:txBody>
      </p:sp>
      <p:sp>
        <p:nvSpPr>
          <p:cNvPr id="18" name="Text 16"/>
          <p:cNvSpPr/>
          <p:nvPr/>
        </p:nvSpPr>
        <p:spPr>
          <a:xfrm>
            <a:off x="5980176" y="5440680"/>
            <a:ext cx="182880" cy="502920"/>
          </a:xfrm>
          <a:prstGeom prst="rect">
            <a:avLst/>
          </a:prstGeom>
          <a:noFill/>
          <a:ln/>
        </p:spPr>
        <p:txBody>
          <a:bodyPr wrap="square" lIns="0" tIns="0" rIns="0" bIns="0" rtlCol="0" anchor="ctr"/>
          <a:lstStyle/>
          <a:p>
            <a:pPr algn="ctr" indent="0" marL="0">
              <a:buNone/>
            </a:pPr>
            <a:r>
              <a:rPr lang="en-US" sz="1600" dirty="0">
                <a:solidFill>
                  <a:srgbClr val="12A99A"/>
                </a:solidFill>
              </a:rPr>
              <a:t>→</a:t>
            </a:r>
            <a:endParaRPr lang="en-US" sz="1600" dirty="0"/>
          </a:p>
        </p:txBody>
      </p:sp>
      <p:sp>
        <p:nvSpPr>
          <p:cNvPr id="19" name="Shape 17"/>
          <p:cNvSpPr/>
          <p:nvPr/>
        </p:nvSpPr>
        <p:spPr>
          <a:xfrm>
            <a:off x="6163056" y="5440680"/>
            <a:ext cx="2468880" cy="502920"/>
          </a:xfrm>
          <a:prstGeom prst="roundRect">
            <a:avLst>
              <a:gd name="adj" fmla="val 18182"/>
            </a:avLst>
          </a:prstGeom>
          <a:solidFill>
            <a:srgbClr val="17324B"/>
          </a:solidFill>
          <a:ln w="12700">
            <a:solidFill>
              <a:srgbClr val="12A99A"/>
            </a:solidFill>
            <a:prstDash val="solid"/>
          </a:ln>
        </p:spPr>
      </p:sp>
      <p:sp>
        <p:nvSpPr>
          <p:cNvPr id="20" name="Text 18"/>
          <p:cNvSpPr/>
          <p:nvPr/>
        </p:nvSpPr>
        <p:spPr>
          <a:xfrm>
            <a:off x="6163056" y="5440680"/>
            <a:ext cx="2468880" cy="502920"/>
          </a:xfrm>
          <a:prstGeom prst="rect">
            <a:avLst/>
          </a:prstGeom>
          <a:noFill/>
          <a:ln/>
        </p:spPr>
        <p:txBody>
          <a:bodyPr wrap="square" lIns="0" tIns="0" rIns="0" bIns="0" rtlCol="0" anchor="ctr"/>
          <a:lstStyle/>
          <a:p>
            <a:pPr algn="ctr" indent="0" marL="0">
              <a:buNone/>
            </a:pPr>
            <a:r>
              <a:rPr lang="en-US" sz="1300" b="1" dirty="0">
                <a:solidFill>
                  <a:srgbClr val="CFE0F3"/>
                </a:solidFill>
                <a:latin typeface="Calibri" pitchFamily="34" charset="0"/>
                <a:ea typeface="Calibri" pitchFamily="34" charset="-122"/>
                <a:cs typeface="Calibri" pitchFamily="34" charset="-120"/>
              </a:rPr>
              <a:t>Release Impact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640080"/>
          </a:xfrm>
          <a:prstGeom prst="rect">
            <a:avLst/>
          </a:prstGeom>
          <a:noFill/>
          <a:ln/>
        </p:spPr>
        <p:txBody>
          <a:bodyPr wrap="square" lIns="0" tIns="0" rIns="0" bIns="0" rtlCol="0" anchor="ctr"/>
          <a:lstStyle/>
          <a:p>
            <a:pPr indent="0" marL="0">
              <a:buNone/>
            </a:pPr>
            <a:r>
              <a:rPr lang="en-US" sz="3200" b="1" dirty="0">
                <a:solidFill>
                  <a:srgbClr val="17293C"/>
                </a:solidFill>
                <a:latin typeface="Cambria" pitchFamily="34" charset="0"/>
                <a:ea typeface="Cambria" pitchFamily="34" charset="-122"/>
                <a:cs typeface="Cambria" pitchFamily="34" charset="-120"/>
              </a:rPr>
              <a:t>A release is a coordination problem</a:t>
            </a:r>
            <a:endParaRPr lang="en-US" sz="3200" dirty="0"/>
          </a:p>
        </p:txBody>
      </p:sp>
      <p:sp>
        <p:nvSpPr>
          <p:cNvPr id="3" name="Text 1"/>
          <p:cNvSpPr/>
          <p:nvPr/>
        </p:nvSpPr>
        <p:spPr>
          <a:xfrm>
            <a:off x="640080" y="1170432"/>
            <a:ext cx="10908792" cy="457200"/>
          </a:xfrm>
          <a:prstGeom prst="rect">
            <a:avLst/>
          </a:prstGeom>
          <a:noFill/>
          <a:ln/>
        </p:spPr>
        <p:txBody>
          <a:bodyPr wrap="square" lIns="0" tIns="0" rIns="0" bIns="0" rtlCol="0" anchor="ctr"/>
          <a:lstStyle/>
          <a:p>
            <a:pPr indent="0" marL="0">
              <a:buNone/>
            </a:pPr>
            <a:r>
              <a:rPr lang="en-US" sz="1500" dirty="0">
                <a:solidFill>
                  <a:srgbClr val="5E7488"/>
                </a:solidFill>
                <a:latin typeface="Calibri" pitchFamily="34" charset="0"/>
                <a:ea typeface="Calibri" pitchFamily="34" charset="-122"/>
                <a:cs typeface="Calibri" pitchFamily="34" charset="-120"/>
              </a:rPr>
              <a:t>Four questions every release has to answer — usually from four different tools.</a:t>
            </a:r>
            <a:endParaRPr lang="en-US" sz="1500" dirty="0"/>
          </a:p>
        </p:txBody>
      </p:sp>
      <p:sp>
        <p:nvSpPr>
          <p:cNvPr id="4" name="Shape 2"/>
          <p:cNvSpPr/>
          <p:nvPr/>
        </p:nvSpPr>
        <p:spPr>
          <a:xfrm>
            <a:off x="640080" y="1874520"/>
            <a:ext cx="5294376" cy="1965960"/>
          </a:xfrm>
          <a:prstGeom prst="roundRect">
            <a:avLst>
              <a:gd name="adj" fmla="val 4186"/>
            </a:avLst>
          </a:prstGeom>
          <a:solidFill>
            <a:srgbClr val="F2F6F9"/>
          </a:solidFill>
          <a:ln/>
          <a:effectLst>
            <a:outerShdw sx="100000" sy="100000" kx="0" ky="0" algn="bl" rotWithShape="0" blurRad="101600" dist="38100" dir="5400000">
              <a:srgbClr val="000000">
                <a:alpha val="18000"/>
              </a:srgbClr>
            </a:outerShdw>
          </a:effectLst>
        </p:spPr>
      </p:sp>
      <p:sp>
        <p:nvSpPr>
          <p:cNvPr id="5" name="Shape 3"/>
          <p:cNvSpPr/>
          <p:nvPr/>
        </p:nvSpPr>
        <p:spPr>
          <a:xfrm>
            <a:off x="960120" y="2221992"/>
            <a:ext cx="731520" cy="731520"/>
          </a:xfrm>
          <a:prstGeom prst="ellipse">
            <a:avLst/>
          </a:prstGeom>
          <a:solidFill>
            <a:srgbClr val="2E6CA4"/>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6" name="Text 4"/>
          <p:cNvSpPr/>
          <p:nvPr/>
        </p:nvSpPr>
        <p:spPr>
          <a:xfrm>
            <a:off x="960120" y="2221992"/>
            <a:ext cx="731520" cy="731520"/>
          </a:xfrm>
          <a:prstGeom prst="rect">
            <a:avLst/>
          </a:prstGeom>
          <a:noFill/>
          <a:ln/>
        </p:spPr>
        <p:txBody>
          <a:bodyPr wrap="square" lIns="0" tIns="0" rIns="0" bIns="0" rtlCol="0" anchor="ctr"/>
          <a:lstStyle/>
          <a:p>
            <a:pPr algn="ctr" indent="0" marL="0">
              <a:buNone/>
            </a:pPr>
            <a:r>
              <a:rPr lang="en-US" sz="1360" b="1" dirty="0">
                <a:solidFill>
                  <a:srgbClr val="FFFFFF"/>
                </a:solidFill>
                <a:latin typeface="Cambria" pitchFamily="34" charset="0"/>
                <a:ea typeface="Cambria" pitchFamily="34" charset="-122"/>
                <a:cs typeface="Cambria" pitchFamily="34" charset="-120"/>
              </a:rPr>
              <a:t>1</a:t>
            </a:r>
            <a:endParaRPr lang="en-US" sz="1360" dirty="0"/>
          </a:p>
        </p:txBody>
      </p:sp>
      <p:sp>
        <p:nvSpPr>
          <p:cNvPr id="7" name="Text 5"/>
          <p:cNvSpPr/>
          <p:nvPr/>
        </p:nvSpPr>
        <p:spPr>
          <a:xfrm>
            <a:off x="1920240" y="2194560"/>
            <a:ext cx="3694176" cy="548640"/>
          </a:xfrm>
          <a:prstGeom prst="rect">
            <a:avLst/>
          </a:prstGeom>
          <a:noFill/>
          <a:ln/>
        </p:spPr>
        <p:txBody>
          <a:bodyPr wrap="square" lIns="0" tIns="0" rIns="0" bIns="0" rtlCol="0" anchor="ctr"/>
          <a:lstStyle/>
          <a:p>
            <a:pPr indent="0" marL="0">
              <a:buNone/>
            </a:pPr>
            <a:r>
              <a:rPr lang="en-US" sz="1700" b="1" dirty="0">
                <a:solidFill>
                  <a:srgbClr val="17293C"/>
                </a:solidFill>
                <a:latin typeface="Cambria" pitchFamily="34" charset="0"/>
                <a:ea typeface="Cambria" pitchFamily="34" charset="-122"/>
                <a:cs typeface="Cambria" pitchFamily="34" charset="-120"/>
              </a:rPr>
              <a:t>What did this release touch?</a:t>
            </a:r>
            <a:endParaRPr lang="en-US" sz="1700" dirty="0"/>
          </a:p>
        </p:txBody>
      </p:sp>
      <p:sp>
        <p:nvSpPr>
          <p:cNvPr id="8" name="Text 6"/>
          <p:cNvSpPr/>
          <p:nvPr/>
        </p:nvSpPr>
        <p:spPr>
          <a:xfrm>
            <a:off x="1920240" y="2788920"/>
            <a:ext cx="3694176" cy="822960"/>
          </a:xfrm>
          <a:prstGeom prst="rect">
            <a:avLst/>
          </a:prstGeom>
          <a:noFill/>
          <a:ln/>
        </p:spPr>
        <p:txBody>
          <a:bodyPr wrap="square" lIns="0" tIns="0" rIns="0" bIns="0" rtlCol="0" anchor="t"/>
          <a:lstStyle/>
          <a:p>
            <a:pPr indent="0" marL="0">
              <a:buNone/>
            </a:pPr>
            <a:r>
              <a:rPr lang="en-US" sz="1350" dirty="0">
                <a:solidFill>
                  <a:srgbClr val="5E7488"/>
                </a:solidFill>
                <a:latin typeface="Calibri" pitchFamily="34" charset="0"/>
                <a:ea typeface="Calibri" pitchFamily="34" charset="-122"/>
                <a:cs typeface="Calibri" pitchFamily="34" charset="-120"/>
              </a:rPr>
              <a:t>The APIs, routes and backend services it actually impacts.</a:t>
            </a:r>
            <a:endParaRPr lang="en-US" sz="1350" dirty="0"/>
          </a:p>
        </p:txBody>
      </p:sp>
      <p:sp>
        <p:nvSpPr>
          <p:cNvPr id="9" name="Shape 7"/>
          <p:cNvSpPr/>
          <p:nvPr/>
        </p:nvSpPr>
        <p:spPr>
          <a:xfrm>
            <a:off x="6254496" y="1874520"/>
            <a:ext cx="5294376" cy="1965960"/>
          </a:xfrm>
          <a:prstGeom prst="roundRect">
            <a:avLst>
              <a:gd name="adj" fmla="val 4186"/>
            </a:avLst>
          </a:prstGeom>
          <a:solidFill>
            <a:srgbClr val="F2F6F9"/>
          </a:solidFill>
          <a:ln/>
          <a:effectLst>
            <a:outerShdw sx="100000" sy="100000" kx="0" ky="0" algn="bl" rotWithShape="0" blurRad="101600" dist="38100" dir="5400000">
              <a:srgbClr val="000000">
                <a:alpha val="18000"/>
              </a:srgbClr>
            </a:outerShdw>
          </a:effectLst>
        </p:spPr>
      </p:sp>
      <p:sp>
        <p:nvSpPr>
          <p:cNvPr id="10" name="Shape 8"/>
          <p:cNvSpPr/>
          <p:nvPr/>
        </p:nvSpPr>
        <p:spPr>
          <a:xfrm>
            <a:off x="6574536" y="2221992"/>
            <a:ext cx="731520" cy="731520"/>
          </a:xfrm>
          <a:prstGeom prst="ellipse">
            <a:avLst/>
          </a:prstGeom>
          <a:solidFill>
            <a:srgbClr val="12A99A"/>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1" name="Text 9"/>
          <p:cNvSpPr/>
          <p:nvPr/>
        </p:nvSpPr>
        <p:spPr>
          <a:xfrm>
            <a:off x="6574536" y="2221992"/>
            <a:ext cx="731520" cy="731520"/>
          </a:xfrm>
          <a:prstGeom prst="rect">
            <a:avLst/>
          </a:prstGeom>
          <a:noFill/>
          <a:ln/>
        </p:spPr>
        <p:txBody>
          <a:bodyPr wrap="square" lIns="0" tIns="0" rIns="0" bIns="0" rtlCol="0" anchor="ctr"/>
          <a:lstStyle/>
          <a:p>
            <a:pPr algn="ctr" indent="0" marL="0">
              <a:buNone/>
            </a:pPr>
            <a:r>
              <a:rPr lang="en-US" sz="1360" b="1" dirty="0">
                <a:solidFill>
                  <a:srgbClr val="FFFFFF"/>
                </a:solidFill>
                <a:latin typeface="Cambria" pitchFamily="34" charset="0"/>
                <a:ea typeface="Cambria" pitchFamily="34" charset="-122"/>
                <a:cs typeface="Cambria" pitchFamily="34" charset="-120"/>
              </a:rPr>
              <a:t>2</a:t>
            </a:r>
            <a:endParaRPr lang="en-US" sz="1360" dirty="0"/>
          </a:p>
        </p:txBody>
      </p:sp>
      <p:sp>
        <p:nvSpPr>
          <p:cNvPr id="12" name="Text 10"/>
          <p:cNvSpPr/>
          <p:nvPr/>
        </p:nvSpPr>
        <p:spPr>
          <a:xfrm>
            <a:off x="7534656" y="2194560"/>
            <a:ext cx="3694176" cy="548640"/>
          </a:xfrm>
          <a:prstGeom prst="rect">
            <a:avLst/>
          </a:prstGeom>
          <a:noFill/>
          <a:ln/>
        </p:spPr>
        <p:txBody>
          <a:bodyPr wrap="square" lIns="0" tIns="0" rIns="0" bIns="0" rtlCol="0" anchor="ctr"/>
          <a:lstStyle/>
          <a:p>
            <a:pPr indent="0" marL="0">
              <a:buNone/>
            </a:pPr>
            <a:r>
              <a:rPr lang="en-US" sz="1700" b="1" dirty="0">
                <a:solidFill>
                  <a:srgbClr val="17293C"/>
                </a:solidFill>
                <a:latin typeface="Cambria" pitchFamily="34" charset="0"/>
                <a:ea typeface="Cambria" pitchFamily="34" charset="-122"/>
                <a:cs typeface="Cambria" pitchFamily="34" charset="-120"/>
              </a:rPr>
              <a:t>Is it tested — end to end?</a:t>
            </a:r>
            <a:endParaRPr lang="en-US" sz="1700" dirty="0"/>
          </a:p>
        </p:txBody>
      </p:sp>
      <p:sp>
        <p:nvSpPr>
          <p:cNvPr id="13" name="Text 11"/>
          <p:cNvSpPr/>
          <p:nvPr/>
        </p:nvSpPr>
        <p:spPr>
          <a:xfrm>
            <a:off x="7534656" y="2788920"/>
            <a:ext cx="3694176" cy="822960"/>
          </a:xfrm>
          <a:prstGeom prst="rect">
            <a:avLst/>
          </a:prstGeom>
          <a:noFill/>
          <a:ln/>
        </p:spPr>
        <p:txBody>
          <a:bodyPr wrap="square" lIns="0" tIns="0" rIns="0" bIns="0" rtlCol="0" anchor="t"/>
          <a:lstStyle/>
          <a:p>
            <a:pPr indent="0" marL="0">
              <a:buNone/>
            </a:pPr>
            <a:r>
              <a:rPr lang="en-US" sz="1350" dirty="0">
                <a:solidFill>
                  <a:srgbClr val="5E7488"/>
                </a:solidFill>
                <a:latin typeface="Calibri" pitchFamily="34" charset="0"/>
                <a:ea typeface="Calibri" pitchFamily="34" charset="-122"/>
                <a:cs typeface="Calibri" pitchFamily="34" charset="-120"/>
              </a:rPr>
              <a:t>Front-end and backend, at the right service version.</a:t>
            </a:r>
            <a:endParaRPr lang="en-US" sz="1350" dirty="0"/>
          </a:p>
        </p:txBody>
      </p:sp>
      <p:sp>
        <p:nvSpPr>
          <p:cNvPr id="14" name="Shape 12"/>
          <p:cNvSpPr/>
          <p:nvPr/>
        </p:nvSpPr>
        <p:spPr>
          <a:xfrm>
            <a:off x="640080" y="4114800"/>
            <a:ext cx="5294376" cy="1965960"/>
          </a:xfrm>
          <a:prstGeom prst="roundRect">
            <a:avLst>
              <a:gd name="adj" fmla="val 4186"/>
            </a:avLst>
          </a:prstGeom>
          <a:solidFill>
            <a:srgbClr val="F2F6F9"/>
          </a:solidFill>
          <a:ln/>
          <a:effectLst>
            <a:outerShdw sx="100000" sy="100000" kx="0" ky="0" algn="bl" rotWithShape="0" blurRad="101600" dist="38100" dir="5400000">
              <a:srgbClr val="000000">
                <a:alpha val="18000"/>
              </a:srgbClr>
            </a:outerShdw>
          </a:effectLst>
        </p:spPr>
      </p:sp>
      <p:sp>
        <p:nvSpPr>
          <p:cNvPr id="15" name="Shape 13"/>
          <p:cNvSpPr/>
          <p:nvPr/>
        </p:nvSpPr>
        <p:spPr>
          <a:xfrm>
            <a:off x="960120" y="4462272"/>
            <a:ext cx="731520" cy="731520"/>
          </a:xfrm>
          <a:prstGeom prst="ellipse">
            <a:avLst/>
          </a:prstGeom>
          <a:solidFill>
            <a:srgbClr val="C9862B"/>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6" name="Text 14"/>
          <p:cNvSpPr/>
          <p:nvPr/>
        </p:nvSpPr>
        <p:spPr>
          <a:xfrm>
            <a:off x="960120" y="4462272"/>
            <a:ext cx="731520" cy="731520"/>
          </a:xfrm>
          <a:prstGeom prst="rect">
            <a:avLst/>
          </a:prstGeom>
          <a:noFill/>
          <a:ln/>
        </p:spPr>
        <p:txBody>
          <a:bodyPr wrap="square" lIns="0" tIns="0" rIns="0" bIns="0" rtlCol="0" anchor="ctr"/>
          <a:lstStyle/>
          <a:p>
            <a:pPr algn="ctr" indent="0" marL="0">
              <a:buNone/>
            </a:pPr>
            <a:r>
              <a:rPr lang="en-US" sz="1360" b="1" dirty="0">
                <a:solidFill>
                  <a:srgbClr val="FFFFFF"/>
                </a:solidFill>
                <a:latin typeface="Cambria" pitchFamily="34" charset="0"/>
                <a:ea typeface="Cambria" pitchFamily="34" charset="-122"/>
                <a:cs typeface="Cambria" pitchFamily="34" charset="-120"/>
              </a:rPr>
              <a:t>3</a:t>
            </a:r>
            <a:endParaRPr lang="en-US" sz="1360" dirty="0"/>
          </a:p>
        </p:txBody>
      </p:sp>
      <p:sp>
        <p:nvSpPr>
          <p:cNvPr id="17" name="Text 15"/>
          <p:cNvSpPr/>
          <p:nvPr/>
        </p:nvSpPr>
        <p:spPr>
          <a:xfrm>
            <a:off x="1920240" y="4434840"/>
            <a:ext cx="3694176" cy="548640"/>
          </a:xfrm>
          <a:prstGeom prst="rect">
            <a:avLst/>
          </a:prstGeom>
          <a:noFill/>
          <a:ln/>
        </p:spPr>
        <p:txBody>
          <a:bodyPr wrap="square" lIns="0" tIns="0" rIns="0" bIns="0" rtlCol="0" anchor="ctr"/>
          <a:lstStyle/>
          <a:p>
            <a:pPr indent="0" marL="0">
              <a:buNone/>
            </a:pPr>
            <a:r>
              <a:rPr lang="en-US" sz="1700" b="1" dirty="0">
                <a:solidFill>
                  <a:srgbClr val="17293C"/>
                </a:solidFill>
                <a:latin typeface="Cambria" pitchFamily="34" charset="0"/>
                <a:ea typeface="Cambria" pitchFamily="34" charset="-122"/>
                <a:cs typeface="Cambria" pitchFamily="34" charset="-120"/>
              </a:rPr>
              <a:t>What changed vs the last version?</a:t>
            </a:r>
            <a:endParaRPr lang="en-US" sz="1700" dirty="0"/>
          </a:p>
        </p:txBody>
      </p:sp>
      <p:sp>
        <p:nvSpPr>
          <p:cNvPr id="18" name="Text 16"/>
          <p:cNvSpPr/>
          <p:nvPr/>
        </p:nvSpPr>
        <p:spPr>
          <a:xfrm>
            <a:off x="1920240" y="5029200"/>
            <a:ext cx="3694176" cy="822960"/>
          </a:xfrm>
          <a:prstGeom prst="rect">
            <a:avLst/>
          </a:prstGeom>
          <a:noFill/>
          <a:ln/>
        </p:spPr>
        <p:txBody>
          <a:bodyPr wrap="square" lIns="0" tIns="0" rIns="0" bIns="0" rtlCol="0" anchor="t"/>
          <a:lstStyle/>
          <a:p>
            <a:pPr indent="0" marL="0">
              <a:buNone/>
            </a:pPr>
            <a:r>
              <a:rPr lang="en-US" sz="1350" dirty="0">
                <a:solidFill>
                  <a:srgbClr val="5E7488"/>
                </a:solidFill>
                <a:latin typeface="Calibri" pitchFamily="34" charset="0"/>
                <a:ea typeface="Calibri" pitchFamily="34" charset="-122"/>
                <a:cs typeface="Calibri" pitchFamily="34" charset="-120"/>
              </a:rPr>
              <a:t>Routes, request payloads and backend service versions.</a:t>
            </a:r>
            <a:endParaRPr lang="en-US" sz="1350" dirty="0"/>
          </a:p>
        </p:txBody>
      </p:sp>
      <p:sp>
        <p:nvSpPr>
          <p:cNvPr id="19" name="Shape 17"/>
          <p:cNvSpPr/>
          <p:nvPr/>
        </p:nvSpPr>
        <p:spPr>
          <a:xfrm>
            <a:off x="6254496" y="4114800"/>
            <a:ext cx="5294376" cy="1965960"/>
          </a:xfrm>
          <a:prstGeom prst="roundRect">
            <a:avLst>
              <a:gd name="adj" fmla="val 4186"/>
            </a:avLst>
          </a:prstGeom>
          <a:solidFill>
            <a:srgbClr val="F2F6F9"/>
          </a:solidFill>
          <a:ln/>
          <a:effectLst>
            <a:outerShdw sx="100000" sy="100000" kx="0" ky="0" algn="bl" rotWithShape="0" blurRad="101600" dist="38100" dir="5400000">
              <a:srgbClr val="000000">
                <a:alpha val="18000"/>
              </a:srgbClr>
            </a:outerShdw>
          </a:effectLst>
        </p:spPr>
      </p:sp>
      <p:sp>
        <p:nvSpPr>
          <p:cNvPr id="20" name="Shape 18"/>
          <p:cNvSpPr/>
          <p:nvPr/>
        </p:nvSpPr>
        <p:spPr>
          <a:xfrm>
            <a:off x="6574536" y="4462272"/>
            <a:ext cx="731520" cy="731520"/>
          </a:xfrm>
          <a:prstGeom prst="ellipse">
            <a:avLst/>
          </a:prstGeom>
          <a:solidFill>
            <a:srgbClr val="163B5B"/>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21" name="Text 19"/>
          <p:cNvSpPr/>
          <p:nvPr/>
        </p:nvSpPr>
        <p:spPr>
          <a:xfrm>
            <a:off x="6574536" y="4462272"/>
            <a:ext cx="731520" cy="731520"/>
          </a:xfrm>
          <a:prstGeom prst="rect">
            <a:avLst/>
          </a:prstGeom>
          <a:noFill/>
          <a:ln/>
        </p:spPr>
        <p:txBody>
          <a:bodyPr wrap="square" lIns="0" tIns="0" rIns="0" bIns="0" rtlCol="0" anchor="ctr"/>
          <a:lstStyle/>
          <a:p>
            <a:pPr algn="ctr" indent="0" marL="0">
              <a:buNone/>
            </a:pPr>
            <a:r>
              <a:rPr lang="en-US" sz="1360" b="1" dirty="0">
                <a:solidFill>
                  <a:srgbClr val="FFFFFF"/>
                </a:solidFill>
                <a:latin typeface="Cambria" pitchFamily="34" charset="0"/>
                <a:ea typeface="Cambria" pitchFamily="34" charset="-122"/>
                <a:cs typeface="Cambria" pitchFamily="34" charset="-120"/>
              </a:rPr>
              <a:t>4</a:t>
            </a:r>
            <a:endParaRPr lang="en-US" sz="1360" dirty="0"/>
          </a:p>
        </p:txBody>
      </p:sp>
      <p:sp>
        <p:nvSpPr>
          <p:cNvPr id="22" name="Text 20"/>
          <p:cNvSpPr/>
          <p:nvPr/>
        </p:nvSpPr>
        <p:spPr>
          <a:xfrm>
            <a:off x="7534656" y="4434840"/>
            <a:ext cx="3694176" cy="548640"/>
          </a:xfrm>
          <a:prstGeom prst="rect">
            <a:avLst/>
          </a:prstGeom>
          <a:noFill/>
          <a:ln/>
        </p:spPr>
        <p:txBody>
          <a:bodyPr wrap="square" lIns="0" tIns="0" rIns="0" bIns="0" rtlCol="0" anchor="ctr"/>
          <a:lstStyle/>
          <a:p>
            <a:pPr indent="0" marL="0">
              <a:buNone/>
            </a:pPr>
            <a:r>
              <a:rPr lang="en-US" sz="1700" b="1" dirty="0">
                <a:solidFill>
                  <a:srgbClr val="17293C"/>
                </a:solidFill>
                <a:latin typeface="Cambria" pitchFamily="34" charset="0"/>
                <a:ea typeface="Cambria" pitchFamily="34" charset="-122"/>
                <a:cs typeface="Cambria" pitchFamily="34" charset="-120"/>
              </a:rPr>
              <a:t>Who signs off?</a:t>
            </a:r>
            <a:endParaRPr lang="en-US" sz="1700" dirty="0"/>
          </a:p>
        </p:txBody>
      </p:sp>
      <p:sp>
        <p:nvSpPr>
          <p:cNvPr id="23" name="Text 21"/>
          <p:cNvSpPr/>
          <p:nvPr/>
        </p:nvSpPr>
        <p:spPr>
          <a:xfrm>
            <a:off x="7534656" y="5029200"/>
            <a:ext cx="3694176" cy="822960"/>
          </a:xfrm>
          <a:prstGeom prst="rect">
            <a:avLst/>
          </a:prstGeom>
          <a:noFill/>
          <a:ln/>
        </p:spPr>
        <p:txBody>
          <a:bodyPr wrap="square" lIns="0" tIns="0" rIns="0" bIns="0" rtlCol="0" anchor="t"/>
          <a:lstStyle/>
          <a:p>
            <a:pPr indent="0" marL="0">
              <a:buNone/>
            </a:pPr>
            <a:r>
              <a:rPr lang="en-US" sz="1350" dirty="0">
                <a:solidFill>
                  <a:srgbClr val="5E7488"/>
                </a:solidFill>
                <a:latin typeface="Calibri" pitchFamily="34" charset="0"/>
                <a:ea typeface="Calibri" pitchFamily="34" charset="-122"/>
                <a:cs typeface="Calibri" pitchFamily="34" charset="-120"/>
              </a:rPr>
              <a:t>Business, dev, test and release — from one source of truth.</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640080"/>
          </a:xfrm>
          <a:prstGeom prst="rect">
            <a:avLst/>
          </a:prstGeom>
          <a:noFill/>
          <a:ln/>
        </p:spPr>
        <p:txBody>
          <a:bodyPr wrap="square" lIns="0" tIns="0" rIns="0" bIns="0" rtlCol="0" anchor="ctr"/>
          <a:lstStyle/>
          <a:p>
            <a:pPr indent="0" marL="0">
              <a:buNone/>
            </a:pPr>
            <a:r>
              <a:rPr lang="en-US" sz="3200" b="1" dirty="0">
                <a:solidFill>
                  <a:srgbClr val="17293C"/>
                </a:solidFill>
                <a:latin typeface="Cambria" pitchFamily="34" charset="0"/>
                <a:ea typeface="Cambria" pitchFamily="34" charset="-122"/>
                <a:cs typeface="Cambria" pitchFamily="34" charset="-120"/>
              </a:rPr>
              <a:t>One tool, from source to sign-off</a:t>
            </a:r>
            <a:endParaRPr lang="en-US" sz="3200" dirty="0"/>
          </a:p>
        </p:txBody>
      </p:sp>
      <p:sp>
        <p:nvSpPr>
          <p:cNvPr id="3" name="Text 1"/>
          <p:cNvSpPr/>
          <p:nvPr/>
        </p:nvSpPr>
        <p:spPr>
          <a:xfrm>
            <a:off x="640080" y="1170432"/>
            <a:ext cx="10908792" cy="548640"/>
          </a:xfrm>
          <a:prstGeom prst="rect">
            <a:avLst/>
          </a:prstGeom>
          <a:noFill/>
          <a:ln/>
        </p:spPr>
        <p:txBody>
          <a:bodyPr wrap="square" lIns="0" tIns="0" rIns="0" bIns="0" rtlCol="0" anchor="ctr"/>
          <a:lstStyle/>
          <a:p>
            <a:pPr indent="0" marL="0">
              <a:buNone/>
            </a:pPr>
            <a:r>
              <a:rPr lang="en-US" sz="1500" dirty="0">
                <a:solidFill>
                  <a:srgbClr val="5E7488"/>
                </a:solidFill>
                <a:latin typeface="Calibri" pitchFamily="34" charset="0"/>
                <a:ea typeface="Calibri" pitchFamily="34" charset="-122"/>
                <a:cs typeface="Calibri" pitchFamily="34" charset="-120"/>
              </a:rPr>
              <a:t>Point TraceGuard at your framework source — a local checkout or a Bitbucket branch / tag, no running system. It reads the Camel routes and controllers, resolves versions, and correlates your logs.</a:t>
            </a:r>
            <a:endParaRPr lang="en-US" sz="1500" dirty="0"/>
          </a:p>
        </p:txBody>
      </p:sp>
      <p:sp>
        <p:nvSpPr>
          <p:cNvPr id="4" name="Shape 2"/>
          <p:cNvSpPr/>
          <p:nvPr/>
        </p:nvSpPr>
        <p:spPr>
          <a:xfrm>
            <a:off x="640080" y="2148840"/>
            <a:ext cx="3300984" cy="2834640"/>
          </a:xfrm>
          <a:prstGeom prst="roundRect">
            <a:avLst>
              <a:gd name="adj" fmla="val 3226"/>
            </a:avLst>
          </a:prstGeom>
          <a:solidFill>
            <a:srgbClr val="F2F6F9"/>
          </a:solidFill>
          <a:ln/>
          <a:effectLst>
            <a:outerShdw sx="100000" sy="100000" kx="0" ky="0" algn="bl" rotWithShape="0" blurRad="101600" dist="38100" dir="5400000">
              <a:srgbClr val="000000">
                <a:alpha val="18000"/>
              </a:srgbClr>
            </a:outerShdw>
          </a:effectLst>
        </p:spPr>
      </p:sp>
      <p:sp>
        <p:nvSpPr>
          <p:cNvPr id="5" name="Shape 3"/>
          <p:cNvSpPr/>
          <p:nvPr/>
        </p:nvSpPr>
        <p:spPr>
          <a:xfrm>
            <a:off x="1833372" y="2468880"/>
            <a:ext cx="914400" cy="914400"/>
          </a:xfrm>
          <a:prstGeom prst="ellipse">
            <a:avLst/>
          </a:prstGeom>
          <a:solidFill>
            <a:srgbClr val="2E6CA4"/>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6" name="Text 4"/>
          <p:cNvSpPr/>
          <p:nvPr/>
        </p:nvSpPr>
        <p:spPr>
          <a:xfrm>
            <a:off x="1833372" y="2468880"/>
            <a:ext cx="914400" cy="9144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7" name="Text 5"/>
          <p:cNvSpPr/>
          <p:nvPr/>
        </p:nvSpPr>
        <p:spPr>
          <a:xfrm>
            <a:off x="822960" y="3520440"/>
            <a:ext cx="2935224" cy="457200"/>
          </a:xfrm>
          <a:prstGeom prst="rect">
            <a:avLst/>
          </a:prstGeom>
          <a:noFill/>
          <a:ln/>
        </p:spPr>
        <p:txBody>
          <a:bodyPr wrap="square" lIns="0" tIns="0" rIns="0" bIns="0" rtlCol="0" anchor="ctr"/>
          <a:lstStyle/>
          <a:p>
            <a:pPr algn="ctr" indent="0" marL="0">
              <a:buNone/>
            </a:pPr>
            <a:r>
              <a:rPr lang="en-US" sz="1800" b="1" dirty="0">
                <a:solidFill>
                  <a:srgbClr val="2E6CA4"/>
                </a:solidFill>
                <a:latin typeface="Cambria" pitchFamily="34" charset="0"/>
                <a:ea typeface="Cambria" pitchFamily="34" charset="-122"/>
                <a:cs typeface="Cambria" pitchFamily="34" charset="-120"/>
              </a:rPr>
              <a:t>Release Scope</a:t>
            </a:r>
            <a:endParaRPr lang="en-US" sz="1800" dirty="0"/>
          </a:p>
        </p:txBody>
      </p:sp>
      <p:sp>
        <p:nvSpPr>
          <p:cNvPr id="8" name="Text 6"/>
          <p:cNvSpPr/>
          <p:nvPr/>
        </p:nvSpPr>
        <p:spPr>
          <a:xfrm>
            <a:off x="960120" y="4023360"/>
            <a:ext cx="2660904" cy="868680"/>
          </a:xfrm>
          <a:prstGeom prst="rect">
            <a:avLst/>
          </a:prstGeom>
          <a:noFill/>
          <a:ln/>
        </p:spPr>
        <p:txBody>
          <a:bodyPr wrap="square" lIns="0" tIns="0" rIns="0" bIns="0" rtlCol="0" anchor="t"/>
          <a:lstStyle/>
          <a:p>
            <a:pPr algn="ctr" indent="0" marL="0">
              <a:buNone/>
            </a:pPr>
            <a:r>
              <a:rPr lang="en-US" sz="1300" dirty="0">
                <a:solidFill>
                  <a:srgbClr val="5E7488"/>
                </a:solidFill>
                <a:latin typeface="Calibri" pitchFamily="34" charset="0"/>
                <a:ea typeface="Calibri" pitchFamily="34" charset="-122"/>
                <a:cs typeface="Calibri" pitchFamily="34" charset="-120"/>
              </a:rPr>
              <a:t>See what a release touches — every impacted API and its full traced flow.</a:t>
            </a:r>
            <a:endParaRPr lang="en-US" sz="1300" dirty="0"/>
          </a:p>
        </p:txBody>
      </p:sp>
      <p:sp>
        <p:nvSpPr>
          <p:cNvPr id="9" name="Text 7"/>
          <p:cNvSpPr/>
          <p:nvPr/>
        </p:nvSpPr>
        <p:spPr>
          <a:xfrm>
            <a:off x="3941064" y="2148840"/>
            <a:ext cx="502920" cy="2834640"/>
          </a:xfrm>
          <a:prstGeom prst="rect">
            <a:avLst/>
          </a:prstGeom>
          <a:noFill/>
          <a:ln/>
        </p:spPr>
        <p:txBody>
          <a:bodyPr wrap="square" lIns="0" tIns="0" rIns="0" bIns="0" rtlCol="0" anchor="ctr"/>
          <a:lstStyle/>
          <a:p>
            <a:pPr algn="ctr" indent="0" marL="0">
              <a:buNone/>
            </a:pPr>
            <a:r>
              <a:rPr lang="en-US" sz="2400" dirty="0">
                <a:solidFill>
                  <a:srgbClr val="2E6CA4"/>
                </a:solidFill>
              </a:rPr>
              <a:t>→</a:t>
            </a:r>
            <a:endParaRPr lang="en-US" sz="2400" dirty="0"/>
          </a:p>
        </p:txBody>
      </p:sp>
      <p:sp>
        <p:nvSpPr>
          <p:cNvPr id="10" name="Shape 8"/>
          <p:cNvSpPr/>
          <p:nvPr/>
        </p:nvSpPr>
        <p:spPr>
          <a:xfrm>
            <a:off x="4443984" y="2148840"/>
            <a:ext cx="3300984" cy="2834640"/>
          </a:xfrm>
          <a:prstGeom prst="roundRect">
            <a:avLst>
              <a:gd name="adj" fmla="val 3226"/>
            </a:avLst>
          </a:prstGeom>
          <a:solidFill>
            <a:srgbClr val="F2F6F9"/>
          </a:solidFill>
          <a:ln/>
          <a:effectLst>
            <a:outerShdw sx="100000" sy="100000" kx="0" ky="0" algn="bl" rotWithShape="0" blurRad="101600" dist="38100" dir="5400000">
              <a:srgbClr val="000000">
                <a:alpha val="18000"/>
              </a:srgbClr>
            </a:outerShdw>
          </a:effectLst>
        </p:spPr>
      </p:sp>
      <p:sp>
        <p:nvSpPr>
          <p:cNvPr id="11" name="Shape 9"/>
          <p:cNvSpPr/>
          <p:nvPr/>
        </p:nvSpPr>
        <p:spPr>
          <a:xfrm>
            <a:off x="5637276" y="2468880"/>
            <a:ext cx="914400" cy="914400"/>
          </a:xfrm>
          <a:prstGeom prst="ellipse">
            <a:avLst/>
          </a:prstGeom>
          <a:solidFill>
            <a:srgbClr val="12A99A"/>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2" name="Text 10"/>
          <p:cNvSpPr/>
          <p:nvPr/>
        </p:nvSpPr>
        <p:spPr>
          <a:xfrm>
            <a:off x="5637276" y="2468880"/>
            <a:ext cx="914400" cy="9144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3" name="Text 11"/>
          <p:cNvSpPr/>
          <p:nvPr/>
        </p:nvSpPr>
        <p:spPr>
          <a:xfrm>
            <a:off x="4626864" y="3520440"/>
            <a:ext cx="2935224" cy="457200"/>
          </a:xfrm>
          <a:prstGeom prst="rect">
            <a:avLst/>
          </a:prstGeom>
          <a:noFill/>
          <a:ln/>
        </p:spPr>
        <p:txBody>
          <a:bodyPr wrap="square" lIns="0" tIns="0" rIns="0" bIns="0" rtlCol="0" anchor="ctr"/>
          <a:lstStyle/>
          <a:p>
            <a:pPr algn="ctr" indent="0" marL="0">
              <a:buNone/>
            </a:pPr>
            <a:r>
              <a:rPr lang="en-US" sz="1800" b="1" dirty="0">
                <a:solidFill>
                  <a:srgbClr val="12A99A"/>
                </a:solidFill>
                <a:latin typeface="Cambria" pitchFamily="34" charset="0"/>
                <a:ea typeface="Cambria" pitchFamily="34" charset="-122"/>
                <a:cs typeface="Cambria" pitchFamily="34" charset="-120"/>
              </a:rPr>
              <a:t>Release Test</a:t>
            </a:r>
            <a:endParaRPr lang="en-US" sz="1800" dirty="0"/>
          </a:p>
        </p:txBody>
      </p:sp>
      <p:sp>
        <p:nvSpPr>
          <p:cNvPr id="14" name="Text 12"/>
          <p:cNvSpPr/>
          <p:nvPr/>
        </p:nvSpPr>
        <p:spPr>
          <a:xfrm>
            <a:off x="4764024" y="4023360"/>
            <a:ext cx="2660904" cy="868680"/>
          </a:xfrm>
          <a:prstGeom prst="rect">
            <a:avLst/>
          </a:prstGeom>
          <a:noFill/>
          <a:ln/>
        </p:spPr>
        <p:txBody>
          <a:bodyPr wrap="square" lIns="0" tIns="0" rIns="0" bIns="0" rtlCol="0" anchor="t"/>
          <a:lstStyle/>
          <a:p>
            <a:pPr algn="ctr" indent="0" marL="0">
              <a:buNone/>
            </a:pPr>
            <a:r>
              <a:rPr lang="en-US" sz="1300" dirty="0">
                <a:solidFill>
                  <a:srgbClr val="5E7488"/>
                </a:solidFill>
                <a:latin typeface="Calibri" pitchFamily="34" charset="0"/>
                <a:ea typeface="Calibri" pitchFamily="34" charset="-122"/>
                <a:cs typeface="Calibri" pitchFamily="34" charset="-120"/>
              </a:rPr>
              <a:t>Prove it was tested end-to-end from your logs / Splunk export.</a:t>
            </a:r>
            <a:endParaRPr lang="en-US" sz="1300" dirty="0"/>
          </a:p>
        </p:txBody>
      </p:sp>
      <p:sp>
        <p:nvSpPr>
          <p:cNvPr id="15" name="Text 13"/>
          <p:cNvSpPr/>
          <p:nvPr/>
        </p:nvSpPr>
        <p:spPr>
          <a:xfrm>
            <a:off x="7744968" y="2148840"/>
            <a:ext cx="502920" cy="2834640"/>
          </a:xfrm>
          <a:prstGeom prst="rect">
            <a:avLst/>
          </a:prstGeom>
          <a:noFill/>
          <a:ln/>
        </p:spPr>
        <p:txBody>
          <a:bodyPr wrap="square" lIns="0" tIns="0" rIns="0" bIns="0" rtlCol="0" anchor="ctr"/>
          <a:lstStyle/>
          <a:p>
            <a:pPr algn="ctr" indent="0" marL="0">
              <a:buNone/>
            </a:pPr>
            <a:r>
              <a:rPr lang="en-US" sz="2400" dirty="0">
                <a:solidFill>
                  <a:srgbClr val="12A99A"/>
                </a:solidFill>
              </a:rPr>
              <a:t>→</a:t>
            </a:r>
            <a:endParaRPr lang="en-US" sz="2400" dirty="0"/>
          </a:p>
        </p:txBody>
      </p:sp>
      <p:sp>
        <p:nvSpPr>
          <p:cNvPr id="16" name="Shape 14"/>
          <p:cNvSpPr/>
          <p:nvPr/>
        </p:nvSpPr>
        <p:spPr>
          <a:xfrm>
            <a:off x="8247888" y="2148840"/>
            <a:ext cx="3300984" cy="2834640"/>
          </a:xfrm>
          <a:prstGeom prst="roundRect">
            <a:avLst>
              <a:gd name="adj" fmla="val 3226"/>
            </a:avLst>
          </a:prstGeom>
          <a:solidFill>
            <a:srgbClr val="F2F6F9"/>
          </a:solidFill>
          <a:ln/>
          <a:effectLst>
            <a:outerShdw sx="100000" sy="100000" kx="0" ky="0" algn="bl" rotWithShape="0" blurRad="101600" dist="38100" dir="5400000">
              <a:srgbClr val="000000">
                <a:alpha val="18000"/>
              </a:srgbClr>
            </a:outerShdw>
          </a:effectLst>
        </p:spPr>
      </p:sp>
      <p:sp>
        <p:nvSpPr>
          <p:cNvPr id="17" name="Shape 15"/>
          <p:cNvSpPr/>
          <p:nvPr/>
        </p:nvSpPr>
        <p:spPr>
          <a:xfrm>
            <a:off x="9441180" y="2468880"/>
            <a:ext cx="914400" cy="914400"/>
          </a:xfrm>
          <a:prstGeom prst="ellipse">
            <a:avLst/>
          </a:prstGeom>
          <a:solidFill>
            <a:srgbClr val="C9862B"/>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8" name="Text 16"/>
          <p:cNvSpPr/>
          <p:nvPr/>
        </p:nvSpPr>
        <p:spPr>
          <a:xfrm>
            <a:off x="9441180" y="2468880"/>
            <a:ext cx="914400" cy="9144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9" name="Text 17"/>
          <p:cNvSpPr/>
          <p:nvPr/>
        </p:nvSpPr>
        <p:spPr>
          <a:xfrm>
            <a:off x="8430768" y="3520440"/>
            <a:ext cx="2935224" cy="457200"/>
          </a:xfrm>
          <a:prstGeom prst="rect">
            <a:avLst/>
          </a:prstGeom>
          <a:noFill/>
          <a:ln/>
        </p:spPr>
        <p:txBody>
          <a:bodyPr wrap="square" lIns="0" tIns="0" rIns="0" bIns="0" rtlCol="0" anchor="ctr"/>
          <a:lstStyle/>
          <a:p>
            <a:pPr algn="ctr" indent="0" marL="0">
              <a:buNone/>
            </a:pPr>
            <a:r>
              <a:rPr lang="en-US" sz="1800" b="1" dirty="0">
                <a:solidFill>
                  <a:srgbClr val="C9862B"/>
                </a:solidFill>
                <a:latin typeface="Cambria" pitchFamily="34" charset="0"/>
                <a:ea typeface="Cambria" pitchFamily="34" charset="-122"/>
                <a:cs typeface="Cambria" pitchFamily="34" charset="-120"/>
              </a:rPr>
              <a:t>Release Impact</a:t>
            </a:r>
            <a:endParaRPr lang="en-US" sz="1800" dirty="0"/>
          </a:p>
        </p:txBody>
      </p:sp>
      <p:sp>
        <p:nvSpPr>
          <p:cNvPr id="20" name="Text 18"/>
          <p:cNvSpPr/>
          <p:nvPr/>
        </p:nvSpPr>
        <p:spPr>
          <a:xfrm>
            <a:off x="8567928" y="4023360"/>
            <a:ext cx="2660904" cy="868680"/>
          </a:xfrm>
          <a:prstGeom prst="rect">
            <a:avLst/>
          </a:prstGeom>
          <a:noFill/>
          <a:ln/>
        </p:spPr>
        <p:txBody>
          <a:bodyPr wrap="square" lIns="0" tIns="0" rIns="0" bIns="0" rtlCol="0" anchor="t"/>
          <a:lstStyle/>
          <a:p>
            <a:pPr algn="ctr" indent="0" marL="0">
              <a:buNone/>
            </a:pPr>
            <a:r>
              <a:rPr lang="en-US" sz="1300" dirty="0">
                <a:solidFill>
                  <a:srgbClr val="5E7488"/>
                </a:solidFill>
                <a:latin typeface="Calibri" pitchFamily="34" charset="0"/>
                <a:ea typeface="Calibri" pitchFamily="34" charset="-122"/>
                <a:cs typeface="Calibri" pitchFamily="34" charset="-120"/>
              </a:rPr>
              <a:t>See what changed vs the previous version — and who changed it.</a:t>
            </a:r>
            <a:endParaRPr lang="en-US" sz="1300" dirty="0"/>
          </a:p>
        </p:txBody>
      </p:sp>
      <p:sp>
        <p:nvSpPr>
          <p:cNvPr id="21" name="Text 19"/>
          <p:cNvSpPr/>
          <p:nvPr/>
        </p:nvSpPr>
        <p:spPr>
          <a:xfrm>
            <a:off x="640080" y="5577840"/>
            <a:ext cx="10908792" cy="457200"/>
          </a:xfrm>
          <a:prstGeom prst="rect">
            <a:avLst/>
          </a:prstGeom>
          <a:noFill/>
          <a:ln/>
        </p:spPr>
        <p:txBody>
          <a:bodyPr wrap="square" lIns="0" tIns="0" rIns="0" bIns="0" rtlCol="0" anchor="ctr"/>
          <a:lstStyle/>
          <a:p>
            <a:pPr algn="ctr" indent="0" marL="0">
              <a:buNone/>
            </a:pPr>
            <a:r>
              <a:rPr lang="en-US" sz="1300" i="1" dirty="0">
                <a:solidFill>
                  <a:srgbClr val="5E7488"/>
                </a:solidFill>
                <a:latin typeface="Calibri" pitchFamily="34" charset="0"/>
                <a:ea typeface="Calibri" pitchFamily="34" charset="-122"/>
                <a:cs typeface="Calibri" pitchFamily="34" charset="-120"/>
              </a:rPr>
              <a:t>Two applications (Mighty &amp; SPL) from one entry point  ·  analyse a local path or a Bitbucket branch — nothing to install locally.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1504188" cy="384048"/>
          </a:xfrm>
          <a:prstGeom prst="roundRect">
            <a:avLst>
              <a:gd name="adj" fmla="val 21429"/>
            </a:avLst>
          </a:prstGeom>
          <a:solidFill>
            <a:srgbClr val="2E6CA4"/>
          </a:solidFill>
          <a:ln/>
        </p:spPr>
      </p:sp>
      <p:sp>
        <p:nvSpPr>
          <p:cNvPr id="3" name="Text 1"/>
          <p:cNvSpPr/>
          <p:nvPr/>
        </p:nvSpPr>
        <p:spPr>
          <a:xfrm>
            <a:off x="640080" y="457200"/>
            <a:ext cx="150418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SCOPE</a:t>
            </a:r>
            <a:endParaRPr lang="en-US" sz="1100" dirty="0"/>
          </a:p>
        </p:txBody>
      </p:sp>
      <p:sp>
        <p:nvSpPr>
          <p:cNvPr id="4" name="Text 2"/>
          <p:cNvSpPr/>
          <p:nvPr/>
        </p:nvSpPr>
        <p:spPr>
          <a:xfrm>
            <a:off x="640080" y="868680"/>
            <a:ext cx="10908792" cy="685800"/>
          </a:xfrm>
          <a:prstGeom prst="rect">
            <a:avLst/>
          </a:prstGeom>
          <a:noFill/>
          <a:ln/>
        </p:spPr>
        <p:txBody>
          <a:bodyPr wrap="square" lIns="0" tIns="0" rIns="0" bIns="0" rtlCol="0" anchor="ctr"/>
          <a:lstStyle/>
          <a:p>
            <a:pPr indent="0" marL="0">
              <a:buNone/>
            </a:pPr>
            <a:r>
              <a:rPr lang="en-US" sz="3000" b="1" dirty="0">
                <a:solidFill>
                  <a:srgbClr val="2E6CA4"/>
                </a:solidFill>
                <a:latin typeface="Cambria" pitchFamily="34" charset="0"/>
                <a:ea typeface="Cambria" pitchFamily="34" charset="-122"/>
                <a:cs typeface="Cambria" pitchFamily="34" charset="-120"/>
              </a:rPr>
              <a:t>See what a release touches</a:t>
            </a:r>
            <a:pPr indent="0" marL="0">
              <a:buNone/>
            </a:pPr>
            <a:endParaRPr lang="en-US" sz="3000" dirty="0"/>
          </a:p>
        </p:txBody>
      </p:sp>
      <p:sp>
        <p:nvSpPr>
          <p:cNvPr id="5" name="Text 3"/>
          <p:cNvSpPr/>
          <p:nvPr/>
        </p:nvSpPr>
        <p:spPr>
          <a:xfrm>
            <a:off x="640080" y="1691640"/>
            <a:ext cx="5760720" cy="2926080"/>
          </a:xfrm>
          <a:prstGeom prst="rect">
            <a:avLst/>
          </a:prstGeom>
          <a:noFill/>
          <a:ln/>
        </p:spPr>
        <p:txBody>
          <a:bodyPr wrap="square" rtlCol="0" anchor="t"/>
          <a:lstStyle/>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Every API a client release impacts, grouped by the version it resolves to.</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The full traced flow — API → Camel routes → backend services — as an interactive graph.</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Each backend shows the exact service version it is called at.</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Filter out the noise: only the APIs this release actually changed.</a:t>
            </a:r>
            <a:endParaRPr lang="en-US" sz="1450" dirty="0"/>
          </a:p>
        </p:txBody>
      </p:sp>
      <p:sp>
        <p:nvSpPr>
          <p:cNvPr id="6" name="Shape 4"/>
          <p:cNvSpPr/>
          <p:nvPr/>
        </p:nvSpPr>
        <p:spPr>
          <a:xfrm>
            <a:off x="6720840" y="1691640"/>
            <a:ext cx="4828032" cy="3246120"/>
          </a:xfrm>
          <a:prstGeom prst="roundRect">
            <a:avLst>
              <a:gd name="adj" fmla="val 2535"/>
            </a:avLst>
          </a:prstGeom>
          <a:solidFill>
            <a:srgbClr val="F2F6F9"/>
          </a:solidFill>
          <a:ln/>
          <a:effectLst>
            <a:outerShdw sx="100000" sy="100000" kx="0" ky="0" algn="bl" rotWithShape="0" blurRad="101600" dist="38100" dir="5400000">
              <a:srgbClr val="000000">
                <a:alpha val="18000"/>
              </a:srgbClr>
            </a:outerShdw>
          </a:effectLst>
        </p:spPr>
      </p:sp>
      <p:sp>
        <p:nvSpPr>
          <p:cNvPr id="7" name="Shape 5"/>
          <p:cNvSpPr/>
          <p:nvPr/>
        </p:nvSpPr>
        <p:spPr>
          <a:xfrm>
            <a:off x="7498080" y="3319272"/>
            <a:ext cx="1645920" cy="-667512"/>
          </a:xfrm>
          <a:prstGeom prst="line">
            <a:avLst/>
          </a:prstGeom>
          <a:noFill/>
          <a:ln w="19050">
            <a:solidFill>
              <a:srgbClr val="5E7488"/>
            </a:solidFill>
            <a:prstDash val="solid"/>
            <a:tailEnd type="triangle"/>
          </a:ln>
        </p:spPr>
      </p:sp>
      <p:sp>
        <p:nvSpPr>
          <p:cNvPr id="8" name="Shape 6"/>
          <p:cNvSpPr/>
          <p:nvPr/>
        </p:nvSpPr>
        <p:spPr>
          <a:xfrm>
            <a:off x="7498080" y="3319272"/>
            <a:ext cx="1645920" cy="704088"/>
          </a:xfrm>
          <a:prstGeom prst="line">
            <a:avLst/>
          </a:prstGeom>
          <a:noFill/>
          <a:ln w="19050">
            <a:solidFill>
              <a:srgbClr val="5E7488"/>
            </a:solidFill>
            <a:prstDash val="solid"/>
            <a:tailEnd type="triangle"/>
          </a:ln>
        </p:spPr>
      </p:sp>
      <p:sp>
        <p:nvSpPr>
          <p:cNvPr id="9" name="Shape 7"/>
          <p:cNvSpPr/>
          <p:nvPr/>
        </p:nvSpPr>
        <p:spPr>
          <a:xfrm>
            <a:off x="9144000" y="2651760"/>
            <a:ext cx="1554480" cy="0"/>
          </a:xfrm>
          <a:prstGeom prst="line">
            <a:avLst/>
          </a:prstGeom>
          <a:noFill/>
          <a:ln w="19050">
            <a:solidFill>
              <a:srgbClr val="5E7488"/>
            </a:solidFill>
            <a:prstDash val="solid"/>
            <a:tailEnd type="triangle"/>
          </a:ln>
        </p:spPr>
      </p:sp>
      <p:sp>
        <p:nvSpPr>
          <p:cNvPr id="10" name="Shape 8"/>
          <p:cNvSpPr/>
          <p:nvPr/>
        </p:nvSpPr>
        <p:spPr>
          <a:xfrm>
            <a:off x="9144000" y="4023360"/>
            <a:ext cx="1554480" cy="0"/>
          </a:xfrm>
          <a:prstGeom prst="line">
            <a:avLst/>
          </a:prstGeom>
          <a:noFill/>
          <a:ln w="19050">
            <a:solidFill>
              <a:srgbClr val="5E7488"/>
            </a:solidFill>
            <a:prstDash val="solid"/>
            <a:tailEnd type="triangle"/>
          </a:ln>
        </p:spPr>
      </p:sp>
      <p:sp>
        <p:nvSpPr>
          <p:cNvPr id="11" name="Shape 9"/>
          <p:cNvSpPr/>
          <p:nvPr/>
        </p:nvSpPr>
        <p:spPr>
          <a:xfrm>
            <a:off x="7223760" y="3044952"/>
            <a:ext cx="548640" cy="548640"/>
          </a:xfrm>
          <a:prstGeom prst="ellipse">
            <a:avLst/>
          </a:prstGeom>
          <a:solidFill>
            <a:srgbClr val="12A99A"/>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2" name="Text 10"/>
          <p:cNvSpPr/>
          <p:nvPr/>
        </p:nvSpPr>
        <p:spPr>
          <a:xfrm>
            <a:off x="6812280" y="3611880"/>
            <a:ext cx="1371600" cy="201168"/>
          </a:xfrm>
          <a:prstGeom prst="rect">
            <a:avLst/>
          </a:prstGeom>
          <a:noFill/>
          <a:ln/>
        </p:spPr>
        <p:txBody>
          <a:bodyPr wrap="square" lIns="0" tIns="0" rIns="0" bIns="0" rtlCol="0" anchor="ctr"/>
          <a:lstStyle/>
          <a:p>
            <a:pPr algn="ctr" indent="0" marL="0">
              <a:buNone/>
            </a:pPr>
            <a:r>
              <a:rPr lang="en-US" sz="850" b="1" dirty="0">
                <a:solidFill>
                  <a:srgbClr val="5E7488"/>
                </a:solidFill>
                <a:latin typeface="Calibri" pitchFamily="34" charset="0"/>
                <a:ea typeface="Calibri" pitchFamily="34" charset="-122"/>
                <a:cs typeface="Calibri" pitchFamily="34" charset="-120"/>
              </a:rPr>
              <a:t>API</a:t>
            </a:r>
            <a:endParaRPr lang="en-US" sz="850" dirty="0"/>
          </a:p>
        </p:txBody>
      </p:sp>
      <p:sp>
        <p:nvSpPr>
          <p:cNvPr id="13" name="Shape 11"/>
          <p:cNvSpPr/>
          <p:nvPr/>
        </p:nvSpPr>
        <p:spPr>
          <a:xfrm>
            <a:off x="8869680" y="2377440"/>
            <a:ext cx="548640" cy="548640"/>
          </a:xfrm>
          <a:prstGeom prst="ellipse">
            <a:avLst/>
          </a:prstGeom>
          <a:solidFill>
            <a:srgbClr val="2E6CA4"/>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4" name="Text 12"/>
          <p:cNvSpPr/>
          <p:nvPr/>
        </p:nvSpPr>
        <p:spPr>
          <a:xfrm>
            <a:off x="8458200" y="2944368"/>
            <a:ext cx="1371600" cy="201168"/>
          </a:xfrm>
          <a:prstGeom prst="rect">
            <a:avLst/>
          </a:prstGeom>
          <a:noFill/>
          <a:ln/>
        </p:spPr>
        <p:txBody>
          <a:bodyPr wrap="square" lIns="0" tIns="0" rIns="0" bIns="0" rtlCol="0" anchor="ctr"/>
          <a:lstStyle/>
          <a:p>
            <a:pPr algn="ctr" indent="0" marL="0">
              <a:buNone/>
            </a:pPr>
            <a:r>
              <a:rPr lang="en-US" sz="850" b="1" dirty="0">
                <a:solidFill>
                  <a:srgbClr val="5E7488"/>
                </a:solidFill>
                <a:latin typeface="Calibri" pitchFamily="34" charset="0"/>
                <a:ea typeface="Calibri" pitchFamily="34" charset="-122"/>
                <a:cs typeface="Calibri" pitchFamily="34" charset="-120"/>
              </a:rPr>
              <a:t>route</a:t>
            </a:r>
            <a:endParaRPr lang="en-US" sz="850" dirty="0"/>
          </a:p>
        </p:txBody>
      </p:sp>
      <p:sp>
        <p:nvSpPr>
          <p:cNvPr id="15" name="Shape 13"/>
          <p:cNvSpPr/>
          <p:nvPr/>
        </p:nvSpPr>
        <p:spPr>
          <a:xfrm>
            <a:off x="8869680" y="3749040"/>
            <a:ext cx="548640" cy="548640"/>
          </a:xfrm>
          <a:prstGeom prst="ellipse">
            <a:avLst/>
          </a:prstGeom>
          <a:solidFill>
            <a:srgbClr val="2E6CA4"/>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6" name="Text 14"/>
          <p:cNvSpPr/>
          <p:nvPr/>
        </p:nvSpPr>
        <p:spPr>
          <a:xfrm>
            <a:off x="8458200" y="4315968"/>
            <a:ext cx="1371600" cy="201168"/>
          </a:xfrm>
          <a:prstGeom prst="rect">
            <a:avLst/>
          </a:prstGeom>
          <a:noFill/>
          <a:ln/>
        </p:spPr>
        <p:txBody>
          <a:bodyPr wrap="square" lIns="0" tIns="0" rIns="0" bIns="0" rtlCol="0" anchor="ctr"/>
          <a:lstStyle/>
          <a:p>
            <a:pPr algn="ctr" indent="0" marL="0">
              <a:buNone/>
            </a:pPr>
            <a:r>
              <a:rPr lang="en-US" sz="850" b="1" dirty="0">
                <a:solidFill>
                  <a:srgbClr val="5E7488"/>
                </a:solidFill>
                <a:latin typeface="Calibri" pitchFamily="34" charset="0"/>
                <a:ea typeface="Calibri" pitchFamily="34" charset="-122"/>
                <a:cs typeface="Calibri" pitchFamily="34" charset="-120"/>
              </a:rPr>
              <a:t>route</a:t>
            </a:r>
            <a:endParaRPr lang="en-US" sz="850" dirty="0"/>
          </a:p>
        </p:txBody>
      </p:sp>
      <p:sp>
        <p:nvSpPr>
          <p:cNvPr id="17" name="Shape 15"/>
          <p:cNvSpPr/>
          <p:nvPr/>
        </p:nvSpPr>
        <p:spPr>
          <a:xfrm>
            <a:off x="10424160" y="2377440"/>
            <a:ext cx="548640" cy="548640"/>
          </a:xfrm>
          <a:prstGeom prst="ellipse">
            <a:avLst/>
          </a:prstGeom>
          <a:solidFill>
            <a:srgbClr val="163B5B"/>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8" name="Text 16"/>
          <p:cNvSpPr/>
          <p:nvPr/>
        </p:nvSpPr>
        <p:spPr>
          <a:xfrm>
            <a:off x="10012680" y="2944368"/>
            <a:ext cx="1371600" cy="201168"/>
          </a:xfrm>
          <a:prstGeom prst="rect">
            <a:avLst/>
          </a:prstGeom>
          <a:noFill/>
          <a:ln/>
        </p:spPr>
        <p:txBody>
          <a:bodyPr wrap="square" lIns="0" tIns="0" rIns="0" bIns="0" rtlCol="0" anchor="ctr"/>
          <a:lstStyle/>
          <a:p>
            <a:pPr algn="ctr" indent="0" marL="0">
              <a:buNone/>
            </a:pPr>
            <a:r>
              <a:rPr lang="en-US" sz="850" b="1" dirty="0">
                <a:solidFill>
                  <a:srgbClr val="5E7488"/>
                </a:solidFill>
                <a:latin typeface="Calibri" pitchFamily="34" charset="0"/>
                <a:ea typeface="Calibri" pitchFamily="34" charset="-122"/>
                <a:cs typeface="Calibri" pitchFamily="34" charset="-120"/>
              </a:rPr>
              <a:t>backend</a:t>
            </a:r>
            <a:endParaRPr lang="en-US" sz="850" dirty="0"/>
          </a:p>
        </p:txBody>
      </p:sp>
      <p:sp>
        <p:nvSpPr>
          <p:cNvPr id="19" name="Shape 17"/>
          <p:cNvSpPr/>
          <p:nvPr/>
        </p:nvSpPr>
        <p:spPr>
          <a:xfrm>
            <a:off x="10424160" y="3749040"/>
            <a:ext cx="548640" cy="548640"/>
          </a:xfrm>
          <a:prstGeom prst="ellipse">
            <a:avLst/>
          </a:prstGeom>
          <a:solidFill>
            <a:srgbClr val="163B5B"/>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20" name="Text 18"/>
          <p:cNvSpPr/>
          <p:nvPr/>
        </p:nvSpPr>
        <p:spPr>
          <a:xfrm>
            <a:off x="10012680" y="4315968"/>
            <a:ext cx="1371600" cy="201168"/>
          </a:xfrm>
          <a:prstGeom prst="rect">
            <a:avLst/>
          </a:prstGeom>
          <a:noFill/>
          <a:ln/>
        </p:spPr>
        <p:txBody>
          <a:bodyPr wrap="square" lIns="0" tIns="0" rIns="0" bIns="0" rtlCol="0" anchor="ctr"/>
          <a:lstStyle/>
          <a:p>
            <a:pPr algn="ctr" indent="0" marL="0">
              <a:buNone/>
            </a:pPr>
            <a:r>
              <a:rPr lang="en-US" sz="850" b="1" dirty="0">
                <a:solidFill>
                  <a:srgbClr val="5E7488"/>
                </a:solidFill>
                <a:latin typeface="Calibri" pitchFamily="34" charset="0"/>
                <a:ea typeface="Calibri" pitchFamily="34" charset="-122"/>
                <a:cs typeface="Calibri" pitchFamily="34" charset="-120"/>
              </a:rPr>
              <a:t>backend</a:t>
            </a:r>
            <a:endParaRPr lang="en-US" sz="850" dirty="0"/>
          </a:p>
        </p:txBody>
      </p:sp>
      <p:sp>
        <p:nvSpPr>
          <p:cNvPr id="21" name="Text 19"/>
          <p:cNvSpPr/>
          <p:nvPr/>
        </p:nvSpPr>
        <p:spPr>
          <a:xfrm>
            <a:off x="11018520" y="2523744"/>
            <a:ext cx="777240" cy="256032"/>
          </a:xfrm>
          <a:prstGeom prst="rect">
            <a:avLst/>
          </a:prstGeom>
          <a:noFill/>
          <a:ln/>
        </p:spPr>
        <p:txBody>
          <a:bodyPr wrap="square" lIns="0" tIns="0" rIns="0" bIns="0" rtlCol="0" anchor="ctr"/>
          <a:lstStyle/>
          <a:p>
            <a:pPr indent="0" marL="0">
              <a:buNone/>
            </a:pPr>
            <a:r>
              <a:rPr lang="en-US" sz="850" b="1" dirty="0">
                <a:solidFill>
                  <a:srgbClr val="163B5B"/>
                </a:solidFill>
                <a:latin typeface="Calibri" pitchFamily="34" charset="0"/>
                <a:ea typeface="Calibri" pitchFamily="34" charset="-122"/>
                <a:cs typeface="Calibri" pitchFamily="34" charset="-120"/>
              </a:rPr>
              <a:t>svc 2.3</a:t>
            </a:r>
            <a:endParaRPr lang="en-US" sz="850" dirty="0"/>
          </a:p>
        </p:txBody>
      </p:sp>
      <p:sp>
        <p:nvSpPr>
          <p:cNvPr id="22" name="Text 20"/>
          <p:cNvSpPr/>
          <p:nvPr/>
        </p:nvSpPr>
        <p:spPr>
          <a:xfrm>
            <a:off x="11018520" y="3895344"/>
            <a:ext cx="777240" cy="256032"/>
          </a:xfrm>
          <a:prstGeom prst="rect">
            <a:avLst/>
          </a:prstGeom>
          <a:noFill/>
          <a:ln/>
        </p:spPr>
        <p:txBody>
          <a:bodyPr wrap="square" lIns="0" tIns="0" rIns="0" bIns="0" rtlCol="0" anchor="ctr"/>
          <a:lstStyle/>
          <a:p>
            <a:pPr indent="0" marL="0">
              <a:buNone/>
            </a:pPr>
            <a:r>
              <a:rPr lang="en-US" sz="850" b="1" dirty="0">
                <a:solidFill>
                  <a:srgbClr val="163B5B"/>
                </a:solidFill>
                <a:latin typeface="Calibri" pitchFamily="34" charset="0"/>
                <a:ea typeface="Calibri" pitchFamily="34" charset="-122"/>
                <a:cs typeface="Calibri" pitchFamily="34" charset="-120"/>
              </a:rPr>
              <a:t>svc 2.1</a:t>
            </a:r>
            <a:endParaRPr lang="en-US" sz="850" dirty="0"/>
          </a:p>
        </p:txBody>
      </p:sp>
      <p:sp>
        <p:nvSpPr>
          <p:cNvPr id="23" name="Text 21"/>
          <p:cNvSpPr/>
          <p:nvPr/>
        </p:nvSpPr>
        <p:spPr>
          <a:xfrm>
            <a:off x="6949440" y="4572000"/>
            <a:ext cx="4370832" cy="274320"/>
          </a:xfrm>
          <a:prstGeom prst="rect">
            <a:avLst/>
          </a:prstGeom>
          <a:noFill/>
          <a:ln/>
        </p:spPr>
        <p:txBody>
          <a:bodyPr wrap="square" lIns="0" tIns="0" rIns="0" bIns="0" rtlCol="0" anchor="ctr"/>
          <a:lstStyle/>
          <a:p>
            <a:pPr algn="ctr" indent="0" marL="0">
              <a:buNone/>
            </a:pPr>
            <a:r>
              <a:rPr lang="en-US" sz="1000" i="1" dirty="0">
                <a:solidFill>
                  <a:srgbClr val="5E7488"/>
                </a:solidFill>
                <a:latin typeface="Calibri" pitchFamily="34" charset="0"/>
                <a:ea typeface="Calibri" pitchFamily="34" charset="-122"/>
                <a:cs typeface="Calibri" pitchFamily="34" charset="-120"/>
              </a:rPr>
              <a:t>traced flow · one impacted API</a:t>
            </a:r>
            <a:endParaRPr lang="en-US" sz="1000" dirty="0"/>
          </a:p>
        </p:txBody>
      </p:sp>
      <p:sp>
        <p:nvSpPr>
          <p:cNvPr id="24" name="Shape 22"/>
          <p:cNvSpPr/>
          <p:nvPr/>
        </p:nvSpPr>
        <p:spPr>
          <a:xfrm>
            <a:off x="640080" y="5257800"/>
            <a:ext cx="10908792" cy="822960"/>
          </a:xfrm>
          <a:prstGeom prst="roundRect">
            <a:avLst>
              <a:gd name="adj" fmla="val 7778"/>
            </a:avLst>
          </a:prstGeom>
          <a:solidFill>
            <a:srgbClr val="E8EFF6"/>
          </a:solidFill>
          <a:ln/>
          <a:effectLst>
            <a:outerShdw sx="100000" sy="100000" kx="0" ky="0" algn="bl" rotWithShape="0" blurRad="88900" dist="38100" dir="5400000">
              <a:srgbClr val="9AA9B8">
                <a:alpha val="28000"/>
              </a:srgbClr>
            </a:outerShdw>
          </a:effectLst>
        </p:spPr>
      </p:sp>
      <p:sp>
        <p:nvSpPr>
          <p:cNvPr id="25" name="Shape 23"/>
          <p:cNvSpPr/>
          <p:nvPr/>
        </p:nvSpPr>
        <p:spPr>
          <a:xfrm>
            <a:off x="914400" y="5431536"/>
            <a:ext cx="384048" cy="475488"/>
          </a:xfrm>
          <a:prstGeom prst="roundRect">
            <a:avLst>
              <a:gd name="adj" fmla="val 7143"/>
            </a:avLst>
          </a:prstGeom>
          <a:solidFill>
            <a:srgbClr val="FFFFFF"/>
          </a:solidFill>
          <a:ln w="15875">
            <a:solidFill>
              <a:srgbClr val="2E6CA4"/>
            </a:solidFill>
            <a:prstDash val="solid"/>
          </a:ln>
        </p:spPr>
      </p:sp>
      <p:sp>
        <p:nvSpPr>
          <p:cNvPr id="26" name="Shape 24"/>
          <p:cNvSpPr/>
          <p:nvPr/>
        </p:nvSpPr>
        <p:spPr>
          <a:xfrm>
            <a:off x="1024128" y="5568696"/>
            <a:ext cx="182880" cy="0"/>
          </a:xfrm>
          <a:prstGeom prst="line">
            <a:avLst/>
          </a:prstGeom>
          <a:noFill/>
          <a:ln w="12700">
            <a:solidFill>
              <a:srgbClr val="2E6CA4"/>
            </a:solidFill>
            <a:prstDash val="solid"/>
          </a:ln>
        </p:spPr>
      </p:sp>
      <p:sp>
        <p:nvSpPr>
          <p:cNvPr id="27" name="Shape 25"/>
          <p:cNvSpPr/>
          <p:nvPr/>
        </p:nvSpPr>
        <p:spPr>
          <a:xfrm>
            <a:off x="1024128" y="5678424"/>
            <a:ext cx="182880" cy="0"/>
          </a:xfrm>
          <a:prstGeom prst="line">
            <a:avLst/>
          </a:prstGeom>
          <a:noFill/>
          <a:ln w="12700">
            <a:solidFill>
              <a:srgbClr val="2E6CA4"/>
            </a:solidFill>
            <a:prstDash val="solid"/>
          </a:ln>
        </p:spPr>
      </p:sp>
      <p:sp>
        <p:nvSpPr>
          <p:cNvPr id="28" name="Shape 26"/>
          <p:cNvSpPr/>
          <p:nvPr/>
        </p:nvSpPr>
        <p:spPr>
          <a:xfrm>
            <a:off x="1024128" y="5788152"/>
            <a:ext cx="118872" cy="0"/>
          </a:xfrm>
          <a:prstGeom prst="line">
            <a:avLst/>
          </a:prstGeom>
          <a:noFill/>
          <a:ln w="12700">
            <a:solidFill>
              <a:srgbClr val="2E6CA4"/>
            </a:solidFill>
            <a:prstDash val="solid"/>
          </a:ln>
        </p:spPr>
      </p:sp>
      <p:sp>
        <p:nvSpPr>
          <p:cNvPr id="29" name="Text 27"/>
          <p:cNvSpPr/>
          <p:nvPr/>
        </p:nvSpPr>
        <p:spPr>
          <a:xfrm>
            <a:off x="1572768" y="5349240"/>
            <a:ext cx="9720072" cy="640080"/>
          </a:xfrm>
          <a:prstGeom prst="rect">
            <a:avLst/>
          </a:prstGeom>
          <a:noFill/>
          <a:ln/>
        </p:spPr>
        <p:txBody>
          <a:bodyPr wrap="square" lIns="0" tIns="0" rIns="0" bIns="0" rtlCol="0" anchor="ctr"/>
          <a:lstStyle/>
          <a:p>
            <a:pPr indent="0" marL="0">
              <a:buNone/>
            </a:pPr>
            <a:r>
              <a:rPr lang="en-US" sz="1250" b="1" dirty="0">
                <a:solidFill>
                  <a:srgbClr val="2E6CA4"/>
                </a:solidFill>
                <a:latin typeface="Calibri" pitchFamily="34" charset="0"/>
                <a:ea typeface="Calibri" pitchFamily="34" charset="-122"/>
                <a:cs typeface="Calibri" pitchFamily="34" charset="-120"/>
              </a:rPr>
              <a:t>PDF report   </a:t>
            </a:r>
            <a:pPr indent="0" marL="0">
              <a:buNone/>
            </a:pPr>
            <a:r>
              <a:rPr lang="en-US" sz="1250" dirty="0">
                <a:solidFill>
                  <a:srgbClr val="17293C"/>
                </a:solidFill>
                <a:latin typeface="Calibri" pitchFamily="34" charset="0"/>
                <a:ea typeface="Calibri" pitchFamily="34" charset="-122"/>
                <a:cs typeface="Calibri" pitchFamily="34" charset="-120"/>
              </a:rPr>
              <a:t>the impacted-API catalog for the release — every API, its route, flow and backends.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1408176" cy="384048"/>
          </a:xfrm>
          <a:prstGeom prst="roundRect">
            <a:avLst>
              <a:gd name="adj" fmla="val 21429"/>
            </a:avLst>
          </a:prstGeom>
          <a:solidFill>
            <a:srgbClr val="12A99A"/>
          </a:solidFill>
          <a:ln/>
        </p:spPr>
      </p:sp>
      <p:sp>
        <p:nvSpPr>
          <p:cNvPr id="3" name="Text 1"/>
          <p:cNvSpPr/>
          <p:nvPr/>
        </p:nvSpPr>
        <p:spPr>
          <a:xfrm>
            <a:off x="640080" y="457200"/>
            <a:ext cx="1408176"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TEST</a:t>
            </a:r>
            <a:endParaRPr lang="en-US" sz="1100" dirty="0"/>
          </a:p>
        </p:txBody>
      </p:sp>
      <p:sp>
        <p:nvSpPr>
          <p:cNvPr id="4" name="Text 2"/>
          <p:cNvSpPr/>
          <p:nvPr/>
        </p:nvSpPr>
        <p:spPr>
          <a:xfrm>
            <a:off x="640080" y="868680"/>
            <a:ext cx="10908792" cy="685800"/>
          </a:xfrm>
          <a:prstGeom prst="rect">
            <a:avLst/>
          </a:prstGeom>
          <a:noFill/>
          <a:ln/>
        </p:spPr>
        <p:txBody>
          <a:bodyPr wrap="square" lIns="0" tIns="0" rIns="0" bIns="0" rtlCol="0" anchor="ctr"/>
          <a:lstStyle/>
          <a:p>
            <a:pPr indent="0" marL="0">
              <a:buNone/>
            </a:pPr>
            <a:r>
              <a:rPr lang="en-US" sz="3000" b="1" dirty="0">
                <a:solidFill>
                  <a:srgbClr val="12A99A"/>
                </a:solidFill>
                <a:latin typeface="Cambria" pitchFamily="34" charset="0"/>
                <a:ea typeface="Cambria" pitchFamily="34" charset="-122"/>
                <a:cs typeface="Cambria" pitchFamily="34" charset="-120"/>
              </a:rPr>
              <a:t>Prove it was tested</a:t>
            </a:r>
            <a:pPr indent="0" marL="0">
              <a:buNone/>
            </a:pPr>
            <a:endParaRPr lang="en-US" sz="3000" dirty="0"/>
          </a:p>
        </p:txBody>
      </p:sp>
      <p:sp>
        <p:nvSpPr>
          <p:cNvPr id="5" name="Text 3"/>
          <p:cNvSpPr/>
          <p:nvPr/>
        </p:nvSpPr>
        <p:spPr>
          <a:xfrm>
            <a:off x="640080" y="1691640"/>
            <a:ext cx="5760720" cy="2926080"/>
          </a:xfrm>
          <a:prstGeom prst="rect">
            <a:avLst/>
          </a:prstGeom>
          <a:noFill/>
          <a:ln/>
        </p:spPr>
        <p:txBody>
          <a:bodyPr wrap="square" rtlCol="0" anchor="t"/>
          <a:lstStyle/>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Generates a Splunk query scoped to the client version — fewer logs, no other-version noise.</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Correlates every front-end call with its backend by correlation id.</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An end-to-end verdict per API, plus a backend service-version check.</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Upload the raw log or the Splunk export — same result either way.</a:t>
            </a:r>
            <a:endParaRPr lang="en-US" sz="1450" dirty="0"/>
          </a:p>
        </p:txBody>
      </p:sp>
      <p:sp>
        <p:nvSpPr>
          <p:cNvPr id="6" name="Shape 4"/>
          <p:cNvSpPr/>
          <p:nvPr/>
        </p:nvSpPr>
        <p:spPr>
          <a:xfrm>
            <a:off x="6720840" y="1691640"/>
            <a:ext cx="4828032" cy="3246120"/>
          </a:xfrm>
          <a:prstGeom prst="roundRect">
            <a:avLst>
              <a:gd name="adj" fmla="val 2535"/>
            </a:avLst>
          </a:prstGeom>
          <a:solidFill>
            <a:srgbClr val="F2F6F9"/>
          </a:solidFill>
          <a:ln/>
          <a:effectLst>
            <a:outerShdw sx="100000" sy="100000" kx="0" ky="0" algn="bl" rotWithShape="0" blurRad="101600" dist="38100" dir="5400000">
              <a:srgbClr val="000000">
                <a:alpha val="18000"/>
              </a:srgbClr>
            </a:outerShdw>
          </a:effectLst>
        </p:spPr>
      </p:sp>
      <p:sp>
        <p:nvSpPr>
          <p:cNvPr id="7" name="Text 5"/>
          <p:cNvSpPr/>
          <p:nvPr/>
        </p:nvSpPr>
        <p:spPr>
          <a:xfrm>
            <a:off x="7040880" y="1920240"/>
            <a:ext cx="4187952" cy="320040"/>
          </a:xfrm>
          <a:prstGeom prst="rect">
            <a:avLst/>
          </a:prstGeom>
          <a:noFill/>
          <a:ln/>
        </p:spPr>
        <p:txBody>
          <a:bodyPr wrap="square" lIns="0" tIns="0" rIns="0" bIns="0" rtlCol="0" anchor="ctr"/>
          <a:lstStyle/>
          <a:p>
            <a:pPr indent="0" marL="0">
              <a:buNone/>
            </a:pPr>
            <a:r>
              <a:rPr lang="en-US" sz="1300" b="1" dirty="0">
                <a:solidFill>
                  <a:srgbClr val="17293C"/>
                </a:solidFill>
                <a:latin typeface="Cambria" pitchFamily="34" charset="0"/>
                <a:ea typeface="Cambria" pitchFamily="34" charset="-122"/>
                <a:cs typeface="Cambria" pitchFamily="34" charset="-120"/>
              </a:rPr>
              <a:t>End-to-end verdict</a:t>
            </a:r>
            <a:endParaRPr lang="en-US" sz="1300" dirty="0"/>
          </a:p>
        </p:txBody>
      </p:sp>
      <p:sp>
        <p:nvSpPr>
          <p:cNvPr id="8" name="Shape 6"/>
          <p:cNvSpPr/>
          <p:nvPr/>
        </p:nvSpPr>
        <p:spPr>
          <a:xfrm>
            <a:off x="7040880" y="2377440"/>
            <a:ext cx="4187952" cy="402336"/>
          </a:xfrm>
          <a:prstGeom prst="roundRect">
            <a:avLst>
              <a:gd name="adj" fmla="val 13636"/>
            </a:avLst>
          </a:prstGeom>
          <a:solidFill>
            <a:srgbClr val="FFFFFF"/>
          </a:solidFill>
          <a:ln w="12700">
            <a:solidFill>
              <a:srgbClr val="DBE4EB"/>
            </a:solidFill>
            <a:prstDash val="solid"/>
          </a:ln>
        </p:spPr>
      </p:sp>
      <p:sp>
        <p:nvSpPr>
          <p:cNvPr id="9" name="Shape 7"/>
          <p:cNvSpPr/>
          <p:nvPr/>
        </p:nvSpPr>
        <p:spPr>
          <a:xfrm>
            <a:off x="7178040" y="2487168"/>
            <a:ext cx="182880" cy="182880"/>
          </a:xfrm>
          <a:prstGeom prst="ellipse">
            <a:avLst/>
          </a:prstGeom>
          <a:solidFill>
            <a:srgbClr val="3E9B63"/>
          </a:solidFill>
          <a:ln/>
        </p:spPr>
      </p:sp>
      <p:sp>
        <p:nvSpPr>
          <p:cNvPr id="10" name="Text 8"/>
          <p:cNvSpPr/>
          <p:nvPr/>
        </p:nvSpPr>
        <p:spPr>
          <a:xfrm>
            <a:off x="7498080" y="2377440"/>
            <a:ext cx="2377440" cy="402336"/>
          </a:xfrm>
          <a:prstGeom prst="rect">
            <a:avLst/>
          </a:prstGeom>
          <a:noFill/>
          <a:ln/>
        </p:spPr>
        <p:txBody>
          <a:bodyPr wrap="square" lIns="0" tIns="0" rIns="0" bIns="0" rtlCol="0" anchor="ctr"/>
          <a:lstStyle/>
          <a:p>
            <a:pPr indent="0" marL="0">
              <a:buNone/>
            </a:pPr>
            <a:r>
              <a:rPr lang="en-US" sz="1300" dirty="0">
                <a:solidFill>
                  <a:srgbClr val="17293C"/>
                </a:solidFill>
                <a:latin typeface="Calibri" pitchFamily="34" charset="0"/>
                <a:ea typeface="Calibri" pitchFamily="34" charset="-122"/>
                <a:cs typeface="Calibri" pitchFamily="34" charset="-120"/>
              </a:rPr>
              <a:t>Success</a:t>
            </a:r>
            <a:endParaRPr lang="en-US" sz="1300" dirty="0"/>
          </a:p>
        </p:txBody>
      </p:sp>
      <p:sp>
        <p:nvSpPr>
          <p:cNvPr id="11" name="Text 9"/>
          <p:cNvSpPr/>
          <p:nvPr/>
        </p:nvSpPr>
        <p:spPr>
          <a:xfrm>
            <a:off x="10497312" y="2377440"/>
            <a:ext cx="685800" cy="402336"/>
          </a:xfrm>
          <a:prstGeom prst="rect">
            <a:avLst/>
          </a:prstGeom>
          <a:noFill/>
          <a:ln/>
        </p:spPr>
        <p:txBody>
          <a:bodyPr wrap="square" lIns="0" tIns="0" rIns="0" bIns="0" rtlCol="0" anchor="ctr"/>
          <a:lstStyle/>
          <a:p>
            <a:pPr algn="r" indent="0" marL="0">
              <a:buNone/>
            </a:pPr>
            <a:r>
              <a:rPr lang="en-US" sz="1400" b="1" dirty="0">
                <a:solidFill>
                  <a:srgbClr val="3E9B63"/>
                </a:solidFill>
                <a:latin typeface="Calibri" pitchFamily="34" charset="0"/>
                <a:ea typeface="Calibri" pitchFamily="34" charset="-122"/>
                <a:cs typeface="Calibri" pitchFamily="34" charset="-120"/>
              </a:rPr>
              <a:t>14</a:t>
            </a:r>
            <a:endParaRPr lang="en-US" sz="1400" dirty="0"/>
          </a:p>
        </p:txBody>
      </p:sp>
      <p:sp>
        <p:nvSpPr>
          <p:cNvPr id="12" name="Shape 10"/>
          <p:cNvSpPr/>
          <p:nvPr/>
        </p:nvSpPr>
        <p:spPr>
          <a:xfrm>
            <a:off x="7040880" y="2880360"/>
            <a:ext cx="4187952" cy="402336"/>
          </a:xfrm>
          <a:prstGeom prst="roundRect">
            <a:avLst>
              <a:gd name="adj" fmla="val 13636"/>
            </a:avLst>
          </a:prstGeom>
          <a:solidFill>
            <a:srgbClr val="FFFFFF"/>
          </a:solidFill>
          <a:ln w="12700">
            <a:solidFill>
              <a:srgbClr val="DBE4EB"/>
            </a:solidFill>
            <a:prstDash val="solid"/>
          </a:ln>
        </p:spPr>
      </p:sp>
      <p:sp>
        <p:nvSpPr>
          <p:cNvPr id="13" name="Shape 11"/>
          <p:cNvSpPr/>
          <p:nvPr/>
        </p:nvSpPr>
        <p:spPr>
          <a:xfrm>
            <a:off x="7178040" y="2990088"/>
            <a:ext cx="182880" cy="182880"/>
          </a:xfrm>
          <a:prstGeom prst="ellipse">
            <a:avLst/>
          </a:prstGeom>
          <a:solidFill>
            <a:srgbClr val="5E7488"/>
          </a:solidFill>
          <a:ln/>
        </p:spPr>
      </p:sp>
      <p:sp>
        <p:nvSpPr>
          <p:cNvPr id="14" name="Text 12"/>
          <p:cNvSpPr/>
          <p:nvPr/>
        </p:nvSpPr>
        <p:spPr>
          <a:xfrm>
            <a:off x="7498080" y="2880360"/>
            <a:ext cx="2377440" cy="402336"/>
          </a:xfrm>
          <a:prstGeom prst="rect">
            <a:avLst/>
          </a:prstGeom>
          <a:noFill/>
          <a:ln/>
        </p:spPr>
        <p:txBody>
          <a:bodyPr wrap="square" lIns="0" tIns="0" rIns="0" bIns="0" rtlCol="0" anchor="ctr"/>
          <a:lstStyle/>
          <a:p>
            <a:pPr indent="0" marL="0">
              <a:buNone/>
            </a:pPr>
            <a:r>
              <a:rPr lang="en-US" sz="1300" dirty="0">
                <a:solidFill>
                  <a:srgbClr val="17293C"/>
                </a:solidFill>
                <a:latin typeface="Calibri" pitchFamily="34" charset="0"/>
                <a:ea typeface="Calibri" pitchFamily="34" charset="-122"/>
                <a:cs typeface="Calibri" pitchFamily="34" charset="-120"/>
              </a:rPr>
              <a:t>Partial</a:t>
            </a:r>
            <a:endParaRPr lang="en-US" sz="1300" dirty="0"/>
          </a:p>
        </p:txBody>
      </p:sp>
      <p:sp>
        <p:nvSpPr>
          <p:cNvPr id="15" name="Text 13"/>
          <p:cNvSpPr/>
          <p:nvPr/>
        </p:nvSpPr>
        <p:spPr>
          <a:xfrm>
            <a:off x="10497312" y="2880360"/>
            <a:ext cx="685800" cy="402336"/>
          </a:xfrm>
          <a:prstGeom prst="rect">
            <a:avLst/>
          </a:prstGeom>
          <a:noFill/>
          <a:ln/>
        </p:spPr>
        <p:txBody>
          <a:bodyPr wrap="square" lIns="0" tIns="0" rIns="0" bIns="0" rtlCol="0" anchor="ctr"/>
          <a:lstStyle/>
          <a:p>
            <a:pPr algn="r" indent="0" marL="0">
              <a:buNone/>
            </a:pPr>
            <a:r>
              <a:rPr lang="en-US" sz="1400" b="1" dirty="0">
                <a:solidFill>
                  <a:srgbClr val="5E7488"/>
                </a:solidFill>
                <a:latin typeface="Calibri" pitchFamily="34" charset="0"/>
                <a:ea typeface="Calibri" pitchFamily="34" charset="-122"/>
                <a:cs typeface="Calibri" pitchFamily="34" charset="-120"/>
              </a:rPr>
              <a:t>2</a:t>
            </a:r>
            <a:endParaRPr lang="en-US" sz="1400" dirty="0"/>
          </a:p>
        </p:txBody>
      </p:sp>
      <p:sp>
        <p:nvSpPr>
          <p:cNvPr id="16" name="Shape 14"/>
          <p:cNvSpPr/>
          <p:nvPr/>
        </p:nvSpPr>
        <p:spPr>
          <a:xfrm>
            <a:off x="7040880" y="3383280"/>
            <a:ext cx="4187952" cy="402336"/>
          </a:xfrm>
          <a:prstGeom prst="roundRect">
            <a:avLst>
              <a:gd name="adj" fmla="val 13636"/>
            </a:avLst>
          </a:prstGeom>
          <a:solidFill>
            <a:srgbClr val="FFFFFF"/>
          </a:solidFill>
          <a:ln w="12700">
            <a:solidFill>
              <a:srgbClr val="DBE4EB"/>
            </a:solidFill>
            <a:prstDash val="solid"/>
          </a:ln>
        </p:spPr>
      </p:sp>
      <p:sp>
        <p:nvSpPr>
          <p:cNvPr id="17" name="Shape 15"/>
          <p:cNvSpPr/>
          <p:nvPr/>
        </p:nvSpPr>
        <p:spPr>
          <a:xfrm>
            <a:off x="7178040" y="3493008"/>
            <a:ext cx="182880" cy="182880"/>
          </a:xfrm>
          <a:prstGeom prst="ellipse">
            <a:avLst/>
          </a:prstGeom>
          <a:solidFill>
            <a:srgbClr val="C2504C"/>
          </a:solidFill>
          <a:ln/>
        </p:spPr>
      </p:sp>
      <p:sp>
        <p:nvSpPr>
          <p:cNvPr id="18" name="Text 16"/>
          <p:cNvSpPr/>
          <p:nvPr/>
        </p:nvSpPr>
        <p:spPr>
          <a:xfrm>
            <a:off x="7498080" y="3383280"/>
            <a:ext cx="2377440" cy="402336"/>
          </a:xfrm>
          <a:prstGeom prst="rect">
            <a:avLst/>
          </a:prstGeom>
          <a:noFill/>
          <a:ln/>
        </p:spPr>
        <p:txBody>
          <a:bodyPr wrap="square" lIns="0" tIns="0" rIns="0" bIns="0" rtlCol="0" anchor="ctr"/>
          <a:lstStyle/>
          <a:p>
            <a:pPr indent="0" marL="0">
              <a:buNone/>
            </a:pPr>
            <a:r>
              <a:rPr lang="en-US" sz="1300" dirty="0">
                <a:solidFill>
                  <a:srgbClr val="17293C"/>
                </a:solidFill>
                <a:latin typeface="Calibri" pitchFamily="34" charset="0"/>
                <a:ea typeface="Calibri" pitchFamily="34" charset="-122"/>
                <a:cs typeface="Calibri" pitchFamily="34" charset="-120"/>
              </a:rPr>
              <a:t>Failed</a:t>
            </a:r>
            <a:endParaRPr lang="en-US" sz="1300" dirty="0"/>
          </a:p>
        </p:txBody>
      </p:sp>
      <p:sp>
        <p:nvSpPr>
          <p:cNvPr id="19" name="Text 17"/>
          <p:cNvSpPr/>
          <p:nvPr/>
        </p:nvSpPr>
        <p:spPr>
          <a:xfrm>
            <a:off x="10497312" y="3383280"/>
            <a:ext cx="685800" cy="402336"/>
          </a:xfrm>
          <a:prstGeom prst="rect">
            <a:avLst/>
          </a:prstGeom>
          <a:noFill/>
          <a:ln/>
        </p:spPr>
        <p:txBody>
          <a:bodyPr wrap="square" lIns="0" tIns="0" rIns="0" bIns="0" rtlCol="0" anchor="ctr"/>
          <a:lstStyle/>
          <a:p>
            <a:pPr algn="r" indent="0" marL="0">
              <a:buNone/>
            </a:pPr>
            <a:r>
              <a:rPr lang="en-US" sz="1400" b="1" dirty="0">
                <a:solidFill>
                  <a:srgbClr val="C2504C"/>
                </a:solidFill>
                <a:latin typeface="Calibri" pitchFamily="34" charset="0"/>
                <a:ea typeface="Calibri" pitchFamily="34" charset="-122"/>
                <a:cs typeface="Calibri" pitchFamily="34" charset="-120"/>
              </a:rPr>
              <a:t>1</a:t>
            </a:r>
            <a:endParaRPr lang="en-US" sz="1400" dirty="0"/>
          </a:p>
        </p:txBody>
      </p:sp>
      <p:sp>
        <p:nvSpPr>
          <p:cNvPr id="20" name="Shape 18"/>
          <p:cNvSpPr/>
          <p:nvPr/>
        </p:nvSpPr>
        <p:spPr>
          <a:xfrm>
            <a:off x="7040880" y="3886200"/>
            <a:ext cx="4187952" cy="402336"/>
          </a:xfrm>
          <a:prstGeom prst="roundRect">
            <a:avLst>
              <a:gd name="adj" fmla="val 13636"/>
            </a:avLst>
          </a:prstGeom>
          <a:solidFill>
            <a:srgbClr val="FFFFFF"/>
          </a:solidFill>
          <a:ln w="12700">
            <a:solidFill>
              <a:srgbClr val="DBE4EB"/>
            </a:solidFill>
            <a:prstDash val="solid"/>
          </a:ln>
        </p:spPr>
      </p:sp>
      <p:sp>
        <p:nvSpPr>
          <p:cNvPr id="21" name="Shape 19"/>
          <p:cNvSpPr/>
          <p:nvPr/>
        </p:nvSpPr>
        <p:spPr>
          <a:xfrm>
            <a:off x="7178040" y="3995928"/>
            <a:ext cx="182880" cy="182880"/>
          </a:xfrm>
          <a:prstGeom prst="ellipse">
            <a:avLst/>
          </a:prstGeom>
          <a:solidFill>
            <a:srgbClr val="C9862B"/>
          </a:solidFill>
          <a:ln/>
        </p:spPr>
      </p:sp>
      <p:sp>
        <p:nvSpPr>
          <p:cNvPr id="22" name="Text 20"/>
          <p:cNvSpPr/>
          <p:nvPr/>
        </p:nvSpPr>
        <p:spPr>
          <a:xfrm>
            <a:off x="7498080" y="3886200"/>
            <a:ext cx="2377440" cy="402336"/>
          </a:xfrm>
          <a:prstGeom prst="rect">
            <a:avLst/>
          </a:prstGeom>
          <a:noFill/>
          <a:ln/>
        </p:spPr>
        <p:txBody>
          <a:bodyPr wrap="square" lIns="0" tIns="0" rIns="0" bIns="0" rtlCol="0" anchor="ctr"/>
          <a:lstStyle/>
          <a:p>
            <a:pPr indent="0" marL="0">
              <a:buNone/>
            </a:pPr>
            <a:r>
              <a:rPr lang="en-US" sz="1300" dirty="0">
                <a:solidFill>
                  <a:srgbClr val="17293C"/>
                </a:solidFill>
                <a:latin typeface="Calibri" pitchFamily="34" charset="0"/>
                <a:ea typeface="Calibri" pitchFamily="34" charset="-122"/>
                <a:cs typeface="Calibri" pitchFamily="34" charset="-120"/>
              </a:rPr>
              <a:t>Timeout</a:t>
            </a:r>
            <a:endParaRPr lang="en-US" sz="1300" dirty="0"/>
          </a:p>
        </p:txBody>
      </p:sp>
      <p:sp>
        <p:nvSpPr>
          <p:cNvPr id="23" name="Text 21"/>
          <p:cNvSpPr/>
          <p:nvPr/>
        </p:nvSpPr>
        <p:spPr>
          <a:xfrm>
            <a:off x="10497312" y="3886200"/>
            <a:ext cx="685800" cy="402336"/>
          </a:xfrm>
          <a:prstGeom prst="rect">
            <a:avLst/>
          </a:prstGeom>
          <a:noFill/>
          <a:ln/>
        </p:spPr>
        <p:txBody>
          <a:bodyPr wrap="square" lIns="0" tIns="0" rIns="0" bIns="0" rtlCol="0" anchor="ctr"/>
          <a:lstStyle/>
          <a:p>
            <a:pPr algn="r" indent="0" marL="0">
              <a:buNone/>
            </a:pPr>
            <a:r>
              <a:rPr lang="en-US" sz="1400" b="1" dirty="0">
                <a:solidFill>
                  <a:srgbClr val="C9862B"/>
                </a:solidFill>
                <a:latin typeface="Calibri" pitchFamily="34" charset="0"/>
                <a:ea typeface="Calibri" pitchFamily="34" charset="-122"/>
                <a:cs typeface="Calibri" pitchFamily="34" charset="-120"/>
              </a:rPr>
              <a:t>0</a:t>
            </a:r>
            <a:endParaRPr lang="en-US" sz="1400" dirty="0"/>
          </a:p>
        </p:txBody>
      </p:sp>
      <p:sp>
        <p:nvSpPr>
          <p:cNvPr id="24" name="Text 22"/>
          <p:cNvSpPr/>
          <p:nvPr/>
        </p:nvSpPr>
        <p:spPr>
          <a:xfrm>
            <a:off x="7040880" y="4480560"/>
            <a:ext cx="4187952" cy="274320"/>
          </a:xfrm>
          <a:prstGeom prst="rect">
            <a:avLst/>
          </a:prstGeom>
          <a:noFill/>
          <a:ln/>
        </p:spPr>
        <p:txBody>
          <a:bodyPr wrap="square" lIns="0" tIns="0" rIns="0" bIns="0" rtlCol="0" anchor="ctr"/>
          <a:lstStyle/>
          <a:p>
            <a:pPr algn="ctr" indent="0" marL="0">
              <a:buNone/>
            </a:pPr>
            <a:r>
              <a:rPr lang="en-US" sz="1000" i="1" dirty="0">
                <a:solidFill>
                  <a:srgbClr val="5E7488"/>
                </a:solidFill>
                <a:latin typeface="Calibri" pitchFamily="34" charset="0"/>
                <a:ea typeface="Calibri" pitchFamily="34" charset="-122"/>
                <a:cs typeface="Calibri" pitchFamily="34" charset="-120"/>
              </a:rPr>
              <a:t>Service version  ✓ matched against the traced version</a:t>
            </a:r>
            <a:endParaRPr lang="en-US" sz="1000" dirty="0"/>
          </a:p>
        </p:txBody>
      </p:sp>
      <p:sp>
        <p:nvSpPr>
          <p:cNvPr id="25" name="Shape 23"/>
          <p:cNvSpPr/>
          <p:nvPr/>
        </p:nvSpPr>
        <p:spPr>
          <a:xfrm>
            <a:off x="640080" y="5257800"/>
            <a:ext cx="10908792" cy="822960"/>
          </a:xfrm>
          <a:prstGeom prst="roundRect">
            <a:avLst>
              <a:gd name="adj" fmla="val 7778"/>
            </a:avLst>
          </a:prstGeom>
          <a:solidFill>
            <a:srgbClr val="E0F1EF"/>
          </a:solidFill>
          <a:ln/>
          <a:effectLst>
            <a:outerShdw sx="100000" sy="100000" kx="0" ky="0" algn="bl" rotWithShape="0" blurRad="88900" dist="38100" dir="5400000">
              <a:srgbClr val="9AA9B8">
                <a:alpha val="28000"/>
              </a:srgbClr>
            </a:outerShdw>
          </a:effectLst>
        </p:spPr>
      </p:sp>
      <p:sp>
        <p:nvSpPr>
          <p:cNvPr id="26" name="Shape 24"/>
          <p:cNvSpPr/>
          <p:nvPr/>
        </p:nvSpPr>
        <p:spPr>
          <a:xfrm>
            <a:off x="914400" y="5431536"/>
            <a:ext cx="384048" cy="475488"/>
          </a:xfrm>
          <a:prstGeom prst="roundRect">
            <a:avLst>
              <a:gd name="adj" fmla="val 7143"/>
            </a:avLst>
          </a:prstGeom>
          <a:solidFill>
            <a:srgbClr val="FFFFFF"/>
          </a:solidFill>
          <a:ln w="15875">
            <a:solidFill>
              <a:srgbClr val="12A99A"/>
            </a:solidFill>
            <a:prstDash val="solid"/>
          </a:ln>
        </p:spPr>
      </p:sp>
      <p:sp>
        <p:nvSpPr>
          <p:cNvPr id="27" name="Shape 25"/>
          <p:cNvSpPr/>
          <p:nvPr/>
        </p:nvSpPr>
        <p:spPr>
          <a:xfrm>
            <a:off x="1024128" y="5568696"/>
            <a:ext cx="182880" cy="0"/>
          </a:xfrm>
          <a:prstGeom prst="line">
            <a:avLst/>
          </a:prstGeom>
          <a:noFill/>
          <a:ln w="12700">
            <a:solidFill>
              <a:srgbClr val="12A99A"/>
            </a:solidFill>
            <a:prstDash val="solid"/>
          </a:ln>
        </p:spPr>
      </p:sp>
      <p:sp>
        <p:nvSpPr>
          <p:cNvPr id="28" name="Shape 26"/>
          <p:cNvSpPr/>
          <p:nvPr/>
        </p:nvSpPr>
        <p:spPr>
          <a:xfrm>
            <a:off x="1024128" y="5678424"/>
            <a:ext cx="182880" cy="0"/>
          </a:xfrm>
          <a:prstGeom prst="line">
            <a:avLst/>
          </a:prstGeom>
          <a:noFill/>
          <a:ln w="12700">
            <a:solidFill>
              <a:srgbClr val="12A99A"/>
            </a:solidFill>
            <a:prstDash val="solid"/>
          </a:ln>
        </p:spPr>
      </p:sp>
      <p:sp>
        <p:nvSpPr>
          <p:cNvPr id="29" name="Shape 27"/>
          <p:cNvSpPr/>
          <p:nvPr/>
        </p:nvSpPr>
        <p:spPr>
          <a:xfrm>
            <a:off x="1024128" y="5788152"/>
            <a:ext cx="118872" cy="0"/>
          </a:xfrm>
          <a:prstGeom prst="line">
            <a:avLst/>
          </a:prstGeom>
          <a:noFill/>
          <a:ln w="12700">
            <a:solidFill>
              <a:srgbClr val="12A99A"/>
            </a:solidFill>
            <a:prstDash val="solid"/>
          </a:ln>
        </p:spPr>
      </p:sp>
      <p:sp>
        <p:nvSpPr>
          <p:cNvPr id="30" name="Text 28"/>
          <p:cNvSpPr/>
          <p:nvPr/>
        </p:nvSpPr>
        <p:spPr>
          <a:xfrm>
            <a:off x="1572768" y="5349240"/>
            <a:ext cx="9720072" cy="640080"/>
          </a:xfrm>
          <a:prstGeom prst="rect">
            <a:avLst/>
          </a:prstGeom>
          <a:noFill/>
          <a:ln/>
        </p:spPr>
        <p:txBody>
          <a:bodyPr wrap="square" lIns="0" tIns="0" rIns="0" bIns="0" rtlCol="0" anchor="ctr"/>
          <a:lstStyle/>
          <a:p>
            <a:pPr indent="0" marL="0">
              <a:buNone/>
            </a:pPr>
            <a:r>
              <a:rPr lang="en-US" sz="1250" b="1" dirty="0">
                <a:solidFill>
                  <a:srgbClr val="12A99A"/>
                </a:solidFill>
                <a:latin typeface="Calibri" pitchFamily="34" charset="0"/>
                <a:ea typeface="Calibri" pitchFamily="34" charset="-122"/>
                <a:cs typeface="Calibri" pitchFamily="34" charset="-120"/>
              </a:rPr>
              <a:t>PDF report   </a:t>
            </a:r>
            <a:pPr indent="0" marL="0">
              <a:buNone/>
            </a:pPr>
            <a:r>
              <a:rPr lang="en-US" sz="1250" dirty="0">
                <a:solidFill>
                  <a:srgbClr val="17293C"/>
                </a:solidFill>
                <a:latin typeface="Calibri" pitchFamily="34" charset="0"/>
                <a:ea typeface="Calibri" pitchFamily="34" charset="-122"/>
                <a:cs typeface="Calibri" pitchFamily="34" charset="-120"/>
              </a:rPr>
              <a:t>a verification / sign-off report — worst-first, per-API pass/fail with the evidence.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1600200" cy="384048"/>
          </a:xfrm>
          <a:prstGeom prst="roundRect">
            <a:avLst>
              <a:gd name="adj" fmla="val 21429"/>
            </a:avLst>
          </a:prstGeom>
          <a:solidFill>
            <a:srgbClr val="C9862B"/>
          </a:solidFill>
          <a:ln/>
        </p:spPr>
      </p:sp>
      <p:sp>
        <p:nvSpPr>
          <p:cNvPr id="3" name="Text 1"/>
          <p:cNvSpPr/>
          <p:nvPr/>
        </p:nvSpPr>
        <p:spPr>
          <a:xfrm>
            <a:off x="640080" y="457200"/>
            <a:ext cx="160020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IMPACT</a:t>
            </a:r>
            <a:endParaRPr lang="en-US" sz="1100" dirty="0"/>
          </a:p>
        </p:txBody>
      </p:sp>
      <p:sp>
        <p:nvSpPr>
          <p:cNvPr id="4" name="Text 2"/>
          <p:cNvSpPr/>
          <p:nvPr/>
        </p:nvSpPr>
        <p:spPr>
          <a:xfrm>
            <a:off x="640080" y="868680"/>
            <a:ext cx="10908792" cy="685800"/>
          </a:xfrm>
          <a:prstGeom prst="rect">
            <a:avLst/>
          </a:prstGeom>
          <a:noFill/>
          <a:ln/>
        </p:spPr>
        <p:txBody>
          <a:bodyPr wrap="square" lIns="0" tIns="0" rIns="0" bIns="0" rtlCol="0" anchor="ctr"/>
          <a:lstStyle/>
          <a:p>
            <a:pPr indent="0" marL="0">
              <a:buNone/>
            </a:pPr>
            <a:r>
              <a:rPr lang="en-US" sz="3000" b="1" dirty="0">
                <a:solidFill>
                  <a:srgbClr val="C9862B"/>
                </a:solidFill>
                <a:latin typeface="Cambria" pitchFamily="34" charset="0"/>
                <a:ea typeface="Cambria" pitchFamily="34" charset="-122"/>
                <a:cs typeface="Cambria" pitchFamily="34" charset="-120"/>
              </a:rPr>
              <a:t>See what changed</a:t>
            </a:r>
            <a:pPr indent="0" marL="0">
              <a:buNone/>
            </a:pPr>
            <a:endParaRPr lang="en-US" sz="3000" dirty="0"/>
          </a:p>
        </p:txBody>
      </p:sp>
      <p:sp>
        <p:nvSpPr>
          <p:cNvPr id="5" name="Shape 3"/>
          <p:cNvSpPr/>
          <p:nvPr/>
        </p:nvSpPr>
        <p:spPr>
          <a:xfrm>
            <a:off x="640080" y="1600200"/>
            <a:ext cx="1783080" cy="914400"/>
          </a:xfrm>
          <a:prstGeom prst="roundRect">
            <a:avLst>
              <a:gd name="adj" fmla="val 8000"/>
            </a:avLst>
          </a:prstGeom>
          <a:solidFill>
            <a:srgbClr val="F2F6F9"/>
          </a:solidFill>
          <a:ln/>
          <a:effectLst>
            <a:outerShdw sx="100000" sy="100000" kx="0" ky="0" algn="bl" rotWithShape="0" blurRad="101600" dist="38100" dir="5400000">
              <a:srgbClr val="000000">
                <a:alpha val="18000"/>
              </a:srgbClr>
            </a:outerShdw>
          </a:effectLst>
        </p:spPr>
      </p:sp>
      <p:sp>
        <p:nvSpPr>
          <p:cNvPr id="6" name="Text 4"/>
          <p:cNvSpPr/>
          <p:nvPr/>
        </p:nvSpPr>
        <p:spPr>
          <a:xfrm>
            <a:off x="640080" y="1664208"/>
            <a:ext cx="1783080" cy="548640"/>
          </a:xfrm>
          <a:prstGeom prst="rect">
            <a:avLst/>
          </a:prstGeom>
          <a:noFill/>
          <a:ln/>
        </p:spPr>
        <p:txBody>
          <a:bodyPr wrap="square" lIns="0" tIns="0" rIns="0" bIns="0" rtlCol="0" anchor="ctr"/>
          <a:lstStyle/>
          <a:p>
            <a:pPr algn="ctr" indent="0" marL="0">
              <a:buNone/>
            </a:pPr>
            <a:r>
              <a:rPr lang="en-US" sz="3000" b="1" dirty="0">
                <a:solidFill>
                  <a:srgbClr val="C9862B"/>
                </a:solidFill>
                <a:latin typeface="Cambria" pitchFamily="34" charset="0"/>
                <a:ea typeface="Cambria" pitchFamily="34" charset="-122"/>
                <a:cs typeface="Cambria" pitchFamily="34" charset="-120"/>
              </a:rPr>
              <a:t>6</a:t>
            </a:r>
            <a:endParaRPr lang="en-US" sz="3000" dirty="0"/>
          </a:p>
        </p:txBody>
      </p:sp>
      <p:sp>
        <p:nvSpPr>
          <p:cNvPr id="7" name="Text 5"/>
          <p:cNvSpPr/>
          <p:nvPr/>
        </p:nvSpPr>
        <p:spPr>
          <a:xfrm>
            <a:off x="640080" y="2212848"/>
            <a:ext cx="1783080" cy="274320"/>
          </a:xfrm>
          <a:prstGeom prst="rect">
            <a:avLst/>
          </a:prstGeom>
          <a:noFill/>
          <a:ln/>
        </p:spPr>
        <p:txBody>
          <a:bodyPr wrap="square" lIns="0" tIns="0" rIns="0" bIns="0" rtlCol="0" anchor="ctr"/>
          <a:lstStyle/>
          <a:p>
            <a:pPr algn="ctr" indent="0" marL="0">
              <a:buNone/>
            </a:pPr>
            <a:r>
              <a:rPr lang="en-US" sz="1200" dirty="0">
                <a:solidFill>
                  <a:srgbClr val="5E7488"/>
                </a:solidFill>
                <a:latin typeface="Calibri" pitchFamily="34" charset="0"/>
                <a:ea typeface="Calibri" pitchFamily="34" charset="-122"/>
                <a:cs typeface="Calibri" pitchFamily="34" charset="-120"/>
              </a:rPr>
              <a:t>Changed</a:t>
            </a:r>
            <a:endParaRPr lang="en-US" sz="1200" dirty="0"/>
          </a:p>
        </p:txBody>
      </p:sp>
      <p:sp>
        <p:nvSpPr>
          <p:cNvPr id="8" name="Shape 6"/>
          <p:cNvSpPr/>
          <p:nvPr/>
        </p:nvSpPr>
        <p:spPr>
          <a:xfrm>
            <a:off x="2606040" y="1600200"/>
            <a:ext cx="1783080" cy="914400"/>
          </a:xfrm>
          <a:prstGeom prst="roundRect">
            <a:avLst>
              <a:gd name="adj" fmla="val 8000"/>
            </a:avLst>
          </a:prstGeom>
          <a:solidFill>
            <a:srgbClr val="F2F6F9"/>
          </a:solidFill>
          <a:ln/>
          <a:effectLst>
            <a:outerShdw sx="100000" sy="100000" kx="0" ky="0" algn="bl" rotWithShape="0" blurRad="101600" dist="38100" dir="5400000">
              <a:srgbClr val="000000">
                <a:alpha val="18000"/>
              </a:srgbClr>
            </a:outerShdw>
          </a:effectLst>
        </p:spPr>
      </p:sp>
      <p:sp>
        <p:nvSpPr>
          <p:cNvPr id="9" name="Text 7"/>
          <p:cNvSpPr/>
          <p:nvPr/>
        </p:nvSpPr>
        <p:spPr>
          <a:xfrm>
            <a:off x="2606040" y="1664208"/>
            <a:ext cx="1783080" cy="548640"/>
          </a:xfrm>
          <a:prstGeom prst="rect">
            <a:avLst/>
          </a:prstGeom>
          <a:noFill/>
          <a:ln/>
        </p:spPr>
        <p:txBody>
          <a:bodyPr wrap="square" lIns="0" tIns="0" rIns="0" bIns="0" rtlCol="0" anchor="ctr"/>
          <a:lstStyle/>
          <a:p>
            <a:pPr algn="ctr" indent="0" marL="0">
              <a:buNone/>
            </a:pPr>
            <a:r>
              <a:rPr lang="en-US" sz="3000" b="1" dirty="0">
                <a:solidFill>
                  <a:srgbClr val="3E9B63"/>
                </a:solidFill>
                <a:latin typeface="Cambria" pitchFamily="34" charset="0"/>
                <a:ea typeface="Cambria" pitchFamily="34" charset="-122"/>
                <a:cs typeface="Cambria" pitchFamily="34" charset="-120"/>
              </a:rPr>
              <a:t>2</a:t>
            </a:r>
            <a:endParaRPr lang="en-US" sz="3000" dirty="0"/>
          </a:p>
        </p:txBody>
      </p:sp>
      <p:sp>
        <p:nvSpPr>
          <p:cNvPr id="10" name="Text 8"/>
          <p:cNvSpPr/>
          <p:nvPr/>
        </p:nvSpPr>
        <p:spPr>
          <a:xfrm>
            <a:off x="2606040" y="2212848"/>
            <a:ext cx="1783080" cy="274320"/>
          </a:xfrm>
          <a:prstGeom prst="rect">
            <a:avLst/>
          </a:prstGeom>
          <a:noFill/>
          <a:ln/>
        </p:spPr>
        <p:txBody>
          <a:bodyPr wrap="square" lIns="0" tIns="0" rIns="0" bIns="0" rtlCol="0" anchor="ctr"/>
          <a:lstStyle/>
          <a:p>
            <a:pPr algn="ctr" indent="0" marL="0">
              <a:buNone/>
            </a:pPr>
            <a:r>
              <a:rPr lang="en-US" sz="1200" dirty="0">
                <a:solidFill>
                  <a:srgbClr val="5E7488"/>
                </a:solidFill>
                <a:latin typeface="Calibri" pitchFamily="34" charset="0"/>
                <a:ea typeface="Calibri" pitchFamily="34" charset="-122"/>
                <a:cs typeface="Calibri" pitchFamily="34" charset="-120"/>
              </a:rPr>
              <a:t>New</a:t>
            </a:r>
            <a:endParaRPr lang="en-US" sz="1200" dirty="0"/>
          </a:p>
        </p:txBody>
      </p:sp>
      <p:sp>
        <p:nvSpPr>
          <p:cNvPr id="11" name="Shape 9"/>
          <p:cNvSpPr/>
          <p:nvPr/>
        </p:nvSpPr>
        <p:spPr>
          <a:xfrm>
            <a:off x="4572000" y="1600200"/>
            <a:ext cx="1783080" cy="914400"/>
          </a:xfrm>
          <a:prstGeom prst="roundRect">
            <a:avLst>
              <a:gd name="adj" fmla="val 8000"/>
            </a:avLst>
          </a:prstGeom>
          <a:solidFill>
            <a:srgbClr val="F2F6F9"/>
          </a:solidFill>
          <a:ln/>
          <a:effectLst>
            <a:outerShdw sx="100000" sy="100000" kx="0" ky="0" algn="bl" rotWithShape="0" blurRad="101600" dist="38100" dir="5400000">
              <a:srgbClr val="000000">
                <a:alpha val="18000"/>
              </a:srgbClr>
            </a:outerShdw>
          </a:effectLst>
        </p:spPr>
      </p:sp>
      <p:sp>
        <p:nvSpPr>
          <p:cNvPr id="12" name="Text 10"/>
          <p:cNvSpPr/>
          <p:nvPr/>
        </p:nvSpPr>
        <p:spPr>
          <a:xfrm>
            <a:off x="4572000" y="1664208"/>
            <a:ext cx="1783080" cy="548640"/>
          </a:xfrm>
          <a:prstGeom prst="rect">
            <a:avLst/>
          </a:prstGeom>
          <a:noFill/>
          <a:ln/>
        </p:spPr>
        <p:txBody>
          <a:bodyPr wrap="square" lIns="0" tIns="0" rIns="0" bIns="0" rtlCol="0" anchor="ctr"/>
          <a:lstStyle/>
          <a:p>
            <a:pPr algn="ctr" indent="0" marL="0">
              <a:buNone/>
            </a:pPr>
            <a:r>
              <a:rPr lang="en-US" sz="3000" b="1" dirty="0">
                <a:solidFill>
                  <a:srgbClr val="5E7488"/>
                </a:solidFill>
                <a:latin typeface="Cambria" pitchFamily="34" charset="0"/>
                <a:ea typeface="Cambria" pitchFamily="34" charset="-122"/>
                <a:cs typeface="Cambria" pitchFamily="34" charset="-120"/>
              </a:rPr>
              <a:t>3</a:t>
            </a:r>
            <a:endParaRPr lang="en-US" sz="3000" dirty="0"/>
          </a:p>
        </p:txBody>
      </p:sp>
      <p:sp>
        <p:nvSpPr>
          <p:cNvPr id="13" name="Text 11"/>
          <p:cNvSpPr/>
          <p:nvPr/>
        </p:nvSpPr>
        <p:spPr>
          <a:xfrm>
            <a:off x="4572000" y="2212848"/>
            <a:ext cx="1783080" cy="274320"/>
          </a:xfrm>
          <a:prstGeom prst="rect">
            <a:avLst/>
          </a:prstGeom>
          <a:noFill/>
          <a:ln/>
        </p:spPr>
        <p:txBody>
          <a:bodyPr wrap="square" lIns="0" tIns="0" rIns="0" bIns="0" rtlCol="0" anchor="ctr"/>
          <a:lstStyle/>
          <a:p>
            <a:pPr algn="ctr" indent="0" marL="0">
              <a:buNone/>
            </a:pPr>
            <a:r>
              <a:rPr lang="en-US" sz="1200" dirty="0">
                <a:solidFill>
                  <a:srgbClr val="5E7488"/>
                </a:solidFill>
                <a:latin typeface="Calibri" pitchFamily="34" charset="0"/>
                <a:ea typeface="Calibri" pitchFamily="34" charset="-122"/>
                <a:cs typeface="Calibri" pitchFamily="34" charset="-120"/>
              </a:rPr>
              <a:t>Unchanged</a:t>
            </a:r>
            <a:endParaRPr lang="en-US" sz="1200" dirty="0"/>
          </a:p>
        </p:txBody>
      </p:sp>
      <p:sp>
        <p:nvSpPr>
          <p:cNvPr id="14" name="Text 12"/>
          <p:cNvSpPr/>
          <p:nvPr/>
        </p:nvSpPr>
        <p:spPr>
          <a:xfrm>
            <a:off x="640080" y="2834640"/>
            <a:ext cx="5760720" cy="2926080"/>
          </a:xfrm>
          <a:prstGeom prst="rect">
            <a:avLst/>
          </a:prstGeom>
          <a:noFill/>
          <a:ln/>
        </p:spPr>
        <p:txBody>
          <a:bodyPr wrap="square" rtlCol="0" anchor="t"/>
          <a:lstStyle/>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Route-level diffs — added / removed / modified, element by element.</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Backend service-version bumps (2.2 → 2.3), even when the route XML is unchanged.</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Payload changes — JSON keys added / removed across the request templates.</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“Changed by / Added by” — git-blame authorship of who made each change.</a:t>
            </a:r>
            <a:endParaRPr lang="en-US" sz="1450" dirty="0"/>
          </a:p>
        </p:txBody>
      </p:sp>
      <p:sp>
        <p:nvSpPr>
          <p:cNvPr id="15" name="Shape 13"/>
          <p:cNvSpPr/>
          <p:nvPr/>
        </p:nvSpPr>
        <p:spPr>
          <a:xfrm>
            <a:off x="6720840" y="1600200"/>
            <a:ext cx="4828032" cy="3337560"/>
          </a:xfrm>
          <a:prstGeom prst="roundRect">
            <a:avLst>
              <a:gd name="adj" fmla="val 2466"/>
            </a:avLst>
          </a:prstGeom>
          <a:solidFill>
            <a:srgbClr val="1B2C3D"/>
          </a:solidFill>
          <a:ln/>
          <a:effectLst>
            <a:outerShdw sx="100000" sy="100000" kx="0" ky="0" algn="bl" rotWithShape="0" blurRad="101600" dist="38100" dir="5400000">
              <a:srgbClr val="000000">
                <a:alpha val="18000"/>
              </a:srgbClr>
            </a:outerShdw>
          </a:effectLst>
        </p:spPr>
      </p:sp>
      <p:sp>
        <p:nvSpPr>
          <p:cNvPr id="16" name="Text 14"/>
          <p:cNvSpPr/>
          <p:nvPr/>
        </p:nvSpPr>
        <p:spPr>
          <a:xfrm>
            <a:off x="6995160" y="1783080"/>
            <a:ext cx="4279392" cy="320040"/>
          </a:xfrm>
          <a:prstGeom prst="rect">
            <a:avLst/>
          </a:prstGeom>
          <a:noFill/>
          <a:ln/>
        </p:spPr>
        <p:txBody>
          <a:bodyPr wrap="square" lIns="0" tIns="0" rIns="0" bIns="0" rtlCol="0" anchor="ctr"/>
          <a:lstStyle/>
          <a:p>
            <a:pPr indent="0" marL="0">
              <a:buNone/>
            </a:pPr>
            <a:r>
              <a:rPr lang="en-US" sz="1250" b="1" dirty="0">
                <a:solidFill>
                  <a:srgbClr val="CFE0F3"/>
                </a:solidFill>
                <a:latin typeface="Calibri" pitchFamily="34" charset="0"/>
                <a:ea typeface="Calibri" pitchFamily="34" charset="-122"/>
                <a:cs typeface="Calibri" pitchFamily="34" charset="-120"/>
              </a:rPr>
              <a:t>fundTransferSubmitV2Api</a:t>
            </a:r>
            <a:endParaRPr lang="en-US" sz="1250" dirty="0"/>
          </a:p>
        </p:txBody>
      </p:sp>
      <p:sp>
        <p:nvSpPr>
          <p:cNvPr id="17" name="Shape 15"/>
          <p:cNvSpPr/>
          <p:nvPr/>
        </p:nvSpPr>
        <p:spPr>
          <a:xfrm>
            <a:off x="6995160" y="2240280"/>
            <a:ext cx="4279392" cy="438912"/>
          </a:xfrm>
          <a:prstGeom prst="roundRect">
            <a:avLst>
              <a:gd name="adj" fmla="val 8333"/>
            </a:avLst>
          </a:prstGeom>
          <a:solidFill>
            <a:srgbClr val="24384C"/>
          </a:solidFill>
          <a:ln/>
        </p:spPr>
      </p:sp>
      <p:sp>
        <p:nvSpPr>
          <p:cNvPr id="18" name="Text 16"/>
          <p:cNvSpPr/>
          <p:nvPr/>
        </p:nvSpPr>
        <p:spPr>
          <a:xfrm>
            <a:off x="7104888" y="2240280"/>
            <a:ext cx="274320" cy="438912"/>
          </a:xfrm>
          <a:prstGeom prst="rect">
            <a:avLst/>
          </a:prstGeom>
          <a:noFill/>
          <a:ln/>
        </p:spPr>
        <p:txBody>
          <a:bodyPr wrap="square" lIns="0" tIns="0" rIns="0" bIns="0" rtlCol="0" anchor="ctr"/>
          <a:lstStyle/>
          <a:p>
            <a:pPr indent="0" marL="0">
              <a:buNone/>
            </a:pPr>
            <a:r>
              <a:rPr lang="en-US" sz="1400" b="1" dirty="0">
                <a:solidFill>
                  <a:srgbClr val="C2504C"/>
                </a:solidFill>
                <a:latin typeface="Consolas" pitchFamily="34" charset="0"/>
                <a:ea typeface="Consolas" pitchFamily="34" charset="-122"/>
                <a:cs typeface="Consolas" pitchFamily="34" charset="-120"/>
              </a:rPr>
              <a:t>-</a:t>
            </a:r>
            <a:endParaRPr lang="en-US" sz="1400" dirty="0"/>
          </a:p>
        </p:txBody>
      </p:sp>
      <p:sp>
        <p:nvSpPr>
          <p:cNvPr id="19" name="Text 17"/>
          <p:cNvSpPr/>
          <p:nvPr/>
        </p:nvSpPr>
        <p:spPr>
          <a:xfrm>
            <a:off x="7434072" y="2240280"/>
            <a:ext cx="3867912" cy="438912"/>
          </a:xfrm>
          <a:prstGeom prst="rect">
            <a:avLst/>
          </a:prstGeom>
          <a:noFill/>
          <a:ln/>
        </p:spPr>
        <p:txBody>
          <a:bodyPr wrap="square" lIns="0" tIns="0" rIns="0" bIns="0" rtlCol="0" anchor="ctr"/>
          <a:lstStyle/>
          <a:p>
            <a:pPr indent="0" marL="0">
              <a:buNone/>
            </a:pPr>
            <a:r>
              <a:rPr lang="en-US" sz="1100" dirty="0">
                <a:solidFill>
                  <a:srgbClr val="CFE0F3"/>
                </a:solidFill>
                <a:latin typeface="Consolas" pitchFamily="34" charset="0"/>
                <a:ea typeface="Consolas" pitchFamily="34" charset="-122"/>
                <a:cs typeface="Consolas" pitchFamily="34" charset="-120"/>
              </a:rPr>
              <a:t>to uri="...ft/v93/precapture.ftl"</a:t>
            </a:r>
            <a:endParaRPr lang="en-US" sz="1100" dirty="0"/>
          </a:p>
        </p:txBody>
      </p:sp>
      <p:sp>
        <p:nvSpPr>
          <p:cNvPr id="20" name="Shape 18"/>
          <p:cNvSpPr/>
          <p:nvPr/>
        </p:nvSpPr>
        <p:spPr>
          <a:xfrm>
            <a:off x="6995160" y="2788920"/>
            <a:ext cx="4279392" cy="438912"/>
          </a:xfrm>
          <a:prstGeom prst="roundRect">
            <a:avLst>
              <a:gd name="adj" fmla="val 8333"/>
            </a:avLst>
          </a:prstGeom>
          <a:solidFill>
            <a:srgbClr val="24384C"/>
          </a:solidFill>
          <a:ln/>
        </p:spPr>
      </p:sp>
      <p:sp>
        <p:nvSpPr>
          <p:cNvPr id="21" name="Text 19"/>
          <p:cNvSpPr/>
          <p:nvPr/>
        </p:nvSpPr>
        <p:spPr>
          <a:xfrm>
            <a:off x="7104888" y="2788920"/>
            <a:ext cx="274320" cy="438912"/>
          </a:xfrm>
          <a:prstGeom prst="rect">
            <a:avLst/>
          </a:prstGeom>
          <a:noFill/>
          <a:ln/>
        </p:spPr>
        <p:txBody>
          <a:bodyPr wrap="square" lIns="0" tIns="0" rIns="0" bIns="0" rtlCol="0" anchor="ctr"/>
          <a:lstStyle/>
          <a:p>
            <a:pPr indent="0" marL="0">
              <a:buNone/>
            </a:pPr>
            <a:r>
              <a:rPr lang="en-US" sz="1400" b="1" dirty="0">
                <a:solidFill>
                  <a:srgbClr val="3E9B63"/>
                </a:solidFill>
                <a:latin typeface="Consolas" pitchFamily="34" charset="0"/>
                <a:ea typeface="Consolas" pitchFamily="34" charset="-122"/>
                <a:cs typeface="Consolas" pitchFamily="34" charset="-120"/>
              </a:rPr>
              <a:t>+</a:t>
            </a:r>
            <a:endParaRPr lang="en-US" sz="1400" dirty="0"/>
          </a:p>
        </p:txBody>
      </p:sp>
      <p:sp>
        <p:nvSpPr>
          <p:cNvPr id="22" name="Text 20"/>
          <p:cNvSpPr/>
          <p:nvPr/>
        </p:nvSpPr>
        <p:spPr>
          <a:xfrm>
            <a:off x="7434072" y="2788920"/>
            <a:ext cx="3867912" cy="438912"/>
          </a:xfrm>
          <a:prstGeom prst="rect">
            <a:avLst/>
          </a:prstGeom>
          <a:noFill/>
          <a:ln/>
        </p:spPr>
        <p:txBody>
          <a:bodyPr wrap="square" lIns="0" tIns="0" rIns="0" bIns="0" rtlCol="0" anchor="ctr"/>
          <a:lstStyle/>
          <a:p>
            <a:pPr indent="0" marL="0">
              <a:buNone/>
            </a:pPr>
            <a:r>
              <a:rPr lang="en-US" sz="1100" dirty="0">
                <a:solidFill>
                  <a:srgbClr val="CFE0F3"/>
                </a:solidFill>
                <a:latin typeface="Consolas" pitchFamily="34" charset="0"/>
                <a:ea typeface="Consolas" pitchFamily="34" charset="-122"/>
                <a:cs typeface="Consolas" pitchFamily="34" charset="-120"/>
              </a:rPr>
              <a:t>to uri="...ft/v94/precapture.ftl"</a:t>
            </a:r>
            <a:endParaRPr lang="en-US" sz="1100" dirty="0"/>
          </a:p>
        </p:txBody>
      </p:sp>
      <p:sp>
        <p:nvSpPr>
          <p:cNvPr id="23" name="Shape 21"/>
          <p:cNvSpPr/>
          <p:nvPr/>
        </p:nvSpPr>
        <p:spPr>
          <a:xfrm>
            <a:off x="6995160" y="3337560"/>
            <a:ext cx="4279392" cy="438912"/>
          </a:xfrm>
          <a:prstGeom prst="roundRect">
            <a:avLst>
              <a:gd name="adj" fmla="val 8333"/>
            </a:avLst>
          </a:prstGeom>
          <a:solidFill>
            <a:srgbClr val="24384C"/>
          </a:solidFill>
          <a:ln/>
        </p:spPr>
      </p:sp>
      <p:sp>
        <p:nvSpPr>
          <p:cNvPr id="24" name="Text 22"/>
          <p:cNvSpPr/>
          <p:nvPr/>
        </p:nvSpPr>
        <p:spPr>
          <a:xfrm>
            <a:off x="7104888" y="3337560"/>
            <a:ext cx="274320" cy="438912"/>
          </a:xfrm>
          <a:prstGeom prst="rect">
            <a:avLst/>
          </a:prstGeom>
          <a:noFill/>
          <a:ln/>
        </p:spPr>
        <p:txBody>
          <a:bodyPr wrap="square" lIns="0" tIns="0" rIns="0" bIns="0" rtlCol="0" anchor="ctr"/>
          <a:lstStyle/>
          <a:p>
            <a:pPr indent="0" marL="0">
              <a:buNone/>
            </a:pPr>
            <a:r>
              <a:rPr lang="en-US" sz="1400" b="1" dirty="0">
                <a:solidFill>
                  <a:srgbClr val="C9862B"/>
                </a:solidFill>
                <a:latin typeface="Consolas" pitchFamily="34" charset="0"/>
                <a:ea typeface="Consolas" pitchFamily="34" charset="-122"/>
                <a:cs typeface="Consolas" pitchFamily="34" charset="-120"/>
              </a:rPr>
              <a:t>~</a:t>
            </a:r>
            <a:endParaRPr lang="en-US" sz="1400" dirty="0"/>
          </a:p>
        </p:txBody>
      </p:sp>
      <p:sp>
        <p:nvSpPr>
          <p:cNvPr id="25" name="Text 23"/>
          <p:cNvSpPr/>
          <p:nvPr/>
        </p:nvSpPr>
        <p:spPr>
          <a:xfrm>
            <a:off x="7434072" y="3337560"/>
            <a:ext cx="3867912" cy="438912"/>
          </a:xfrm>
          <a:prstGeom prst="rect">
            <a:avLst/>
          </a:prstGeom>
          <a:noFill/>
          <a:ln/>
        </p:spPr>
        <p:txBody>
          <a:bodyPr wrap="square" lIns="0" tIns="0" rIns="0" bIns="0" rtlCol="0" anchor="ctr"/>
          <a:lstStyle/>
          <a:p>
            <a:pPr indent="0" marL="0">
              <a:buNone/>
            </a:pPr>
            <a:r>
              <a:rPr lang="en-US" sz="1100" dirty="0">
                <a:solidFill>
                  <a:srgbClr val="CFE0F3"/>
                </a:solidFill>
                <a:latin typeface="Consolas" pitchFamily="34" charset="0"/>
                <a:ea typeface="Consolas" pitchFamily="34" charset="-122"/>
                <a:cs typeface="Consolas" pitchFamily="34" charset="-120"/>
              </a:rPr>
              <a:t>backend service version  2.2 → 2.3</a:t>
            </a:r>
            <a:endParaRPr lang="en-US" sz="1100" dirty="0"/>
          </a:p>
        </p:txBody>
      </p:sp>
      <p:sp>
        <p:nvSpPr>
          <p:cNvPr id="26" name="Shape 24"/>
          <p:cNvSpPr/>
          <p:nvPr/>
        </p:nvSpPr>
        <p:spPr>
          <a:xfrm>
            <a:off x="6995160" y="3886200"/>
            <a:ext cx="4279392" cy="438912"/>
          </a:xfrm>
          <a:prstGeom prst="roundRect">
            <a:avLst>
              <a:gd name="adj" fmla="val 8333"/>
            </a:avLst>
          </a:prstGeom>
          <a:solidFill>
            <a:srgbClr val="24384C"/>
          </a:solidFill>
          <a:ln/>
        </p:spPr>
      </p:sp>
      <p:sp>
        <p:nvSpPr>
          <p:cNvPr id="27" name="Text 25"/>
          <p:cNvSpPr/>
          <p:nvPr/>
        </p:nvSpPr>
        <p:spPr>
          <a:xfrm>
            <a:off x="7104888" y="3886200"/>
            <a:ext cx="274320" cy="438912"/>
          </a:xfrm>
          <a:prstGeom prst="rect">
            <a:avLst/>
          </a:prstGeom>
          <a:noFill/>
          <a:ln/>
        </p:spPr>
        <p:txBody>
          <a:bodyPr wrap="square" lIns="0" tIns="0" rIns="0" bIns="0" rtlCol="0" anchor="ctr"/>
          <a:lstStyle/>
          <a:p>
            <a:pPr indent="0" marL="0">
              <a:buNone/>
            </a:pPr>
            <a:r>
              <a:rPr lang="en-US" sz="1400" b="1" dirty="0">
                <a:solidFill>
                  <a:srgbClr val="3E9B63"/>
                </a:solidFill>
                <a:latin typeface="Consolas" pitchFamily="34" charset="0"/>
                <a:ea typeface="Consolas" pitchFamily="34" charset="-122"/>
                <a:cs typeface="Consolas" pitchFamily="34" charset="-120"/>
              </a:rPr>
              <a:t>+</a:t>
            </a:r>
            <a:endParaRPr lang="en-US" sz="1400" dirty="0"/>
          </a:p>
        </p:txBody>
      </p:sp>
      <p:sp>
        <p:nvSpPr>
          <p:cNvPr id="28" name="Text 26"/>
          <p:cNvSpPr/>
          <p:nvPr/>
        </p:nvSpPr>
        <p:spPr>
          <a:xfrm>
            <a:off x="7434072" y="3886200"/>
            <a:ext cx="3867912" cy="438912"/>
          </a:xfrm>
          <a:prstGeom prst="rect">
            <a:avLst/>
          </a:prstGeom>
          <a:noFill/>
          <a:ln/>
        </p:spPr>
        <p:txBody>
          <a:bodyPr wrap="square" lIns="0" tIns="0" rIns="0" bIns="0" rtlCol="0" anchor="ctr"/>
          <a:lstStyle/>
          <a:p>
            <a:pPr indent="0" marL="0">
              <a:buNone/>
            </a:pPr>
            <a:r>
              <a:rPr lang="en-US" sz="1100" dirty="0">
                <a:solidFill>
                  <a:srgbClr val="CFE0F3"/>
                </a:solidFill>
                <a:latin typeface="Consolas" pitchFamily="34" charset="0"/>
                <a:ea typeface="Consolas" pitchFamily="34" charset="-122"/>
                <a:cs typeface="Consolas" pitchFamily="34" charset="-120"/>
              </a:rPr>
              <a:t>payload key  currency</a:t>
            </a:r>
            <a:endParaRPr lang="en-US" sz="1100" dirty="0"/>
          </a:p>
        </p:txBody>
      </p:sp>
      <p:sp>
        <p:nvSpPr>
          <p:cNvPr id="29" name="Text 27"/>
          <p:cNvSpPr/>
          <p:nvPr/>
        </p:nvSpPr>
        <p:spPr>
          <a:xfrm>
            <a:off x="6995160" y="4553712"/>
            <a:ext cx="4279392" cy="274320"/>
          </a:xfrm>
          <a:prstGeom prst="rect">
            <a:avLst/>
          </a:prstGeom>
          <a:noFill/>
          <a:ln/>
        </p:spPr>
        <p:txBody>
          <a:bodyPr wrap="square" lIns="0" tIns="0" rIns="0" bIns="0" rtlCol="0" anchor="ctr"/>
          <a:lstStyle/>
          <a:p>
            <a:pPr indent="0" marL="0">
              <a:buNone/>
            </a:pPr>
            <a:r>
              <a:rPr lang="en-US" sz="950" i="1" dirty="0">
                <a:solidFill>
                  <a:srgbClr val="9DB3C9"/>
                </a:solidFill>
                <a:latin typeface="Calibri" pitchFamily="34" charset="0"/>
                <a:ea typeface="Calibri" pitchFamily="34" charset="-122"/>
                <a:cs typeface="Calibri" pitchFamily="34" charset="-120"/>
              </a:rPr>
              <a:t>changed by  a.ramanjanappa</a:t>
            </a:r>
            <a:endParaRPr lang="en-US" sz="950" dirty="0"/>
          </a:p>
        </p:txBody>
      </p:sp>
      <p:sp>
        <p:nvSpPr>
          <p:cNvPr id="30" name="Shape 28"/>
          <p:cNvSpPr/>
          <p:nvPr/>
        </p:nvSpPr>
        <p:spPr>
          <a:xfrm>
            <a:off x="640080" y="5257800"/>
            <a:ext cx="10908792" cy="822960"/>
          </a:xfrm>
          <a:prstGeom prst="roundRect">
            <a:avLst>
              <a:gd name="adj" fmla="val 7778"/>
            </a:avLst>
          </a:prstGeom>
          <a:solidFill>
            <a:srgbClr val="F5EDDD"/>
          </a:solidFill>
          <a:ln/>
          <a:effectLst>
            <a:outerShdw sx="100000" sy="100000" kx="0" ky="0" algn="bl" rotWithShape="0" blurRad="88900" dist="38100" dir="5400000">
              <a:srgbClr val="9AA9B8">
                <a:alpha val="28000"/>
              </a:srgbClr>
            </a:outerShdw>
          </a:effectLst>
        </p:spPr>
      </p:sp>
      <p:sp>
        <p:nvSpPr>
          <p:cNvPr id="31" name="Shape 29"/>
          <p:cNvSpPr/>
          <p:nvPr/>
        </p:nvSpPr>
        <p:spPr>
          <a:xfrm>
            <a:off x="914400" y="5431536"/>
            <a:ext cx="384048" cy="475488"/>
          </a:xfrm>
          <a:prstGeom prst="roundRect">
            <a:avLst>
              <a:gd name="adj" fmla="val 7143"/>
            </a:avLst>
          </a:prstGeom>
          <a:solidFill>
            <a:srgbClr val="FFFFFF"/>
          </a:solidFill>
          <a:ln w="15875">
            <a:solidFill>
              <a:srgbClr val="C9862B"/>
            </a:solidFill>
            <a:prstDash val="solid"/>
          </a:ln>
        </p:spPr>
      </p:sp>
      <p:sp>
        <p:nvSpPr>
          <p:cNvPr id="32" name="Shape 30"/>
          <p:cNvSpPr/>
          <p:nvPr/>
        </p:nvSpPr>
        <p:spPr>
          <a:xfrm>
            <a:off x="1024128" y="5568696"/>
            <a:ext cx="182880" cy="0"/>
          </a:xfrm>
          <a:prstGeom prst="line">
            <a:avLst/>
          </a:prstGeom>
          <a:noFill/>
          <a:ln w="12700">
            <a:solidFill>
              <a:srgbClr val="C9862B"/>
            </a:solidFill>
            <a:prstDash val="solid"/>
          </a:ln>
        </p:spPr>
      </p:sp>
      <p:sp>
        <p:nvSpPr>
          <p:cNvPr id="33" name="Shape 31"/>
          <p:cNvSpPr/>
          <p:nvPr/>
        </p:nvSpPr>
        <p:spPr>
          <a:xfrm>
            <a:off x="1024128" y="5678424"/>
            <a:ext cx="182880" cy="0"/>
          </a:xfrm>
          <a:prstGeom prst="line">
            <a:avLst/>
          </a:prstGeom>
          <a:noFill/>
          <a:ln w="12700">
            <a:solidFill>
              <a:srgbClr val="C9862B"/>
            </a:solidFill>
            <a:prstDash val="solid"/>
          </a:ln>
        </p:spPr>
      </p:sp>
      <p:sp>
        <p:nvSpPr>
          <p:cNvPr id="34" name="Shape 32"/>
          <p:cNvSpPr/>
          <p:nvPr/>
        </p:nvSpPr>
        <p:spPr>
          <a:xfrm>
            <a:off x="1024128" y="5788152"/>
            <a:ext cx="118872" cy="0"/>
          </a:xfrm>
          <a:prstGeom prst="line">
            <a:avLst/>
          </a:prstGeom>
          <a:noFill/>
          <a:ln w="12700">
            <a:solidFill>
              <a:srgbClr val="C9862B"/>
            </a:solidFill>
            <a:prstDash val="solid"/>
          </a:ln>
        </p:spPr>
      </p:sp>
      <p:sp>
        <p:nvSpPr>
          <p:cNvPr id="35" name="Text 33"/>
          <p:cNvSpPr/>
          <p:nvPr/>
        </p:nvSpPr>
        <p:spPr>
          <a:xfrm>
            <a:off x="1572768" y="5349240"/>
            <a:ext cx="9720072" cy="640080"/>
          </a:xfrm>
          <a:prstGeom prst="rect">
            <a:avLst/>
          </a:prstGeom>
          <a:noFill/>
          <a:ln/>
        </p:spPr>
        <p:txBody>
          <a:bodyPr wrap="square" lIns="0" tIns="0" rIns="0" bIns="0" rtlCol="0" anchor="ctr"/>
          <a:lstStyle/>
          <a:p>
            <a:pPr indent="0" marL="0">
              <a:buNone/>
            </a:pPr>
            <a:r>
              <a:rPr lang="en-US" sz="1250" b="1" dirty="0">
                <a:solidFill>
                  <a:srgbClr val="C9862B"/>
                </a:solidFill>
                <a:latin typeface="Calibri" pitchFamily="34" charset="0"/>
                <a:ea typeface="Calibri" pitchFamily="34" charset="-122"/>
                <a:cs typeface="Calibri" pitchFamily="34" charset="-120"/>
              </a:rPr>
              <a:t>PDF report   </a:t>
            </a:r>
            <a:pPr indent="0" marL="0">
              <a:buNone/>
            </a:pPr>
            <a:r>
              <a:rPr lang="en-US" sz="1250" dirty="0">
                <a:solidFill>
                  <a:srgbClr val="17293C"/>
                </a:solidFill>
                <a:latin typeface="Calibri" pitchFamily="34" charset="0"/>
                <a:ea typeface="Calibri" pitchFamily="34" charset="-122"/>
                <a:cs typeface="Calibri" pitchFamily="34" charset="-120"/>
              </a:rPr>
              <a:t>a Release Impact report (Changed + New) — for review and regression scoping.</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640080"/>
          </a:xfrm>
          <a:prstGeom prst="rect">
            <a:avLst/>
          </a:prstGeom>
          <a:noFill/>
          <a:ln/>
        </p:spPr>
        <p:txBody>
          <a:bodyPr wrap="square" lIns="0" tIns="0" rIns="0" bIns="0" rtlCol="0" anchor="ctr"/>
          <a:lstStyle/>
          <a:p>
            <a:pPr indent="0" marL="0">
              <a:buNone/>
            </a:pPr>
            <a:r>
              <a:rPr lang="en-US" sz="3200" b="1" dirty="0">
                <a:solidFill>
                  <a:srgbClr val="17293C"/>
                </a:solidFill>
                <a:latin typeface="Cambria" pitchFamily="34" charset="0"/>
                <a:ea typeface="Cambria" pitchFamily="34" charset="-122"/>
                <a:cs typeface="Cambria" pitchFamily="34" charset="-120"/>
              </a:rPr>
              <a:t>Sign off from one document</a:t>
            </a:r>
            <a:endParaRPr lang="en-US" sz="3200" dirty="0"/>
          </a:p>
        </p:txBody>
      </p:sp>
      <p:sp>
        <p:nvSpPr>
          <p:cNvPr id="3" name="Text 1"/>
          <p:cNvSpPr/>
          <p:nvPr/>
        </p:nvSpPr>
        <p:spPr>
          <a:xfrm>
            <a:off x="640080" y="1170432"/>
            <a:ext cx="10908792" cy="548640"/>
          </a:xfrm>
          <a:prstGeom prst="rect">
            <a:avLst/>
          </a:prstGeom>
          <a:noFill/>
          <a:ln/>
        </p:spPr>
        <p:txBody>
          <a:bodyPr wrap="square" lIns="0" tIns="0" rIns="0" bIns="0" rtlCol="0" anchor="ctr"/>
          <a:lstStyle/>
          <a:p>
            <a:pPr indent="0" marL="0">
              <a:buNone/>
            </a:pPr>
            <a:r>
              <a:rPr lang="en-US" sz="1500" dirty="0">
                <a:solidFill>
                  <a:srgbClr val="5E7488"/>
                </a:solidFill>
                <a:latin typeface="Calibri" pitchFamily="34" charset="0"/>
                <a:ea typeface="Calibri" pitchFamily="34" charset="-122"/>
                <a:cs typeface="Calibri" pitchFamily="34" charset="-120"/>
              </a:rPr>
              <a:t>Every tab exports a shareable, consistently-designed PDF — the same report drives business review, dev handover, test evidence and the release go / no-go.</a:t>
            </a:r>
            <a:endParaRPr lang="en-US" sz="1500" dirty="0"/>
          </a:p>
        </p:txBody>
      </p:sp>
      <p:sp>
        <p:nvSpPr>
          <p:cNvPr id="4" name="Shape 2"/>
          <p:cNvSpPr/>
          <p:nvPr/>
        </p:nvSpPr>
        <p:spPr>
          <a:xfrm>
            <a:off x="640080" y="2194560"/>
            <a:ext cx="3331464" cy="2880360"/>
          </a:xfrm>
          <a:prstGeom prst="roundRect">
            <a:avLst>
              <a:gd name="adj" fmla="val 3175"/>
            </a:avLst>
          </a:prstGeom>
          <a:solidFill>
            <a:srgbClr val="F2F6F9"/>
          </a:solidFill>
          <a:ln/>
          <a:effectLst>
            <a:outerShdw sx="100000" sy="100000" kx="0" ky="0" algn="bl" rotWithShape="0" blurRad="101600" dist="38100" dir="5400000">
              <a:srgbClr val="000000">
                <a:alpha val="18000"/>
              </a:srgbClr>
            </a:outerShdw>
          </a:effectLst>
        </p:spPr>
      </p:sp>
      <p:sp>
        <p:nvSpPr>
          <p:cNvPr id="5" name="Shape 3"/>
          <p:cNvSpPr/>
          <p:nvPr/>
        </p:nvSpPr>
        <p:spPr>
          <a:xfrm>
            <a:off x="960120" y="2560320"/>
            <a:ext cx="548640" cy="676656"/>
          </a:xfrm>
          <a:prstGeom prst="roundRect">
            <a:avLst>
              <a:gd name="adj" fmla="val 6667"/>
            </a:avLst>
          </a:prstGeom>
          <a:solidFill>
            <a:srgbClr val="FFFFFF"/>
          </a:solidFill>
          <a:ln w="19050">
            <a:solidFill>
              <a:srgbClr val="2E6CA4"/>
            </a:solidFill>
            <a:prstDash val="solid"/>
          </a:ln>
        </p:spPr>
      </p:sp>
      <p:sp>
        <p:nvSpPr>
          <p:cNvPr id="6" name="Shape 4"/>
          <p:cNvSpPr/>
          <p:nvPr/>
        </p:nvSpPr>
        <p:spPr>
          <a:xfrm>
            <a:off x="1097280" y="2761488"/>
            <a:ext cx="274320" cy="0"/>
          </a:xfrm>
          <a:prstGeom prst="line">
            <a:avLst/>
          </a:prstGeom>
          <a:noFill/>
          <a:ln w="12700">
            <a:solidFill>
              <a:srgbClr val="2E6CA4"/>
            </a:solidFill>
            <a:prstDash val="solid"/>
          </a:ln>
        </p:spPr>
      </p:sp>
      <p:sp>
        <p:nvSpPr>
          <p:cNvPr id="7" name="Shape 5"/>
          <p:cNvSpPr/>
          <p:nvPr/>
        </p:nvSpPr>
        <p:spPr>
          <a:xfrm>
            <a:off x="1097280" y="2916936"/>
            <a:ext cx="274320" cy="0"/>
          </a:xfrm>
          <a:prstGeom prst="line">
            <a:avLst/>
          </a:prstGeom>
          <a:noFill/>
          <a:ln w="12700">
            <a:solidFill>
              <a:srgbClr val="2E6CA4"/>
            </a:solidFill>
            <a:prstDash val="solid"/>
          </a:ln>
        </p:spPr>
      </p:sp>
      <p:sp>
        <p:nvSpPr>
          <p:cNvPr id="8" name="Shape 6"/>
          <p:cNvSpPr/>
          <p:nvPr/>
        </p:nvSpPr>
        <p:spPr>
          <a:xfrm>
            <a:off x="1097280" y="3072384"/>
            <a:ext cx="164592" cy="0"/>
          </a:xfrm>
          <a:prstGeom prst="line">
            <a:avLst/>
          </a:prstGeom>
          <a:noFill/>
          <a:ln w="12700">
            <a:solidFill>
              <a:srgbClr val="2E6CA4"/>
            </a:solidFill>
            <a:prstDash val="solid"/>
          </a:ln>
        </p:spPr>
      </p:sp>
      <p:sp>
        <p:nvSpPr>
          <p:cNvPr id="9" name="Shape 7"/>
          <p:cNvSpPr/>
          <p:nvPr/>
        </p:nvSpPr>
        <p:spPr>
          <a:xfrm>
            <a:off x="1691640" y="2651760"/>
            <a:ext cx="1504188" cy="384048"/>
          </a:xfrm>
          <a:prstGeom prst="roundRect">
            <a:avLst>
              <a:gd name="adj" fmla="val 21429"/>
            </a:avLst>
          </a:prstGeom>
          <a:solidFill>
            <a:srgbClr val="2E6CA4"/>
          </a:solidFill>
          <a:ln/>
        </p:spPr>
      </p:sp>
      <p:sp>
        <p:nvSpPr>
          <p:cNvPr id="10" name="Text 8"/>
          <p:cNvSpPr/>
          <p:nvPr/>
        </p:nvSpPr>
        <p:spPr>
          <a:xfrm>
            <a:off x="1691640" y="2651760"/>
            <a:ext cx="150418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SCOPE</a:t>
            </a:r>
            <a:endParaRPr lang="en-US" sz="1100" dirty="0"/>
          </a:p>
        </p:txBody>
      </p:sp>
      <p:sp>
        <p:nvSpPr>
          <p:cNvPr id="11" name="Text 9"/>
          <p:cNvSpPr/>
          <p:nvPr/>
        </p:nvSpPr>
        <p:spPr>
          <a:xfrm>
            <a:off x="960120" y="3566160"/>
            <a:ext cx="2691384" cy="457200"/>
          </a:xfrm>
          <a:prstGeom prst="rect">
            <a:avLst/>
          </a:prstGeom>
          <a:noFill/>
          <a:ln/>
        </p:spPr>
        <p:txBody>
          <a:bodyPr wrap="square" lIns="0" tIns="0" rIns="0" bIns="0" rtlCol="0" anchor="ctr"/>
          <a:lstStyle/>
          <a:p>
            <a:pPr indent="0" marL="0">
              <a:buNone/>
            </a:pPr>
            <a:r>
              <a:rPr lang="en-US" sz="1800" b="1" dirty="0">
                <a:solidFill>
                  <a:srgbClr val="17293C"/>
                </a:solidFill>
                <a:latin typeface="Cambria" pitchFamily="34" charset="0"/>
                <a:ea typeface="Cambria" pitchFamily="34" charset="-122"/>
                <a:cs typeface="Cambria" pitchFamily="34" charset="-120"/>
              </a:rPr>
              <a:t>Scope report</a:t>
            </a:r>
            <a:endParaRPr lang="en-US" sz="1800" dirty="0"/>
          </a:p>
        </p:txBody>
      </p:sp>
      <p:sp>
        <p:nvSpPr>
          <p:cNvPr id="12" name="Text 10"/>
          <p:cNvSpPr/>
          <p:nvPr/>
        </p:nvSpPr>
        <p:spPr>
          <a:xfrm>
            <a:off x="960120" y="4069080"/>
            <a:ext cx="2691384" cy="868680"/>
          </a:xfrm>
          <a:prstGeom prst="rect">
            <a:avLst/>
          </a:prstGeom>
          <a:noFill/>
          <a:ln/>
        </p:spPr>
        <p:txBody>
          <a:bodyPr wrap="square" lIns="0" tIns="0" rIns="0" bIns="0" rtlCol="0" anchor="t"/>
          <a:lstStyle/>
          <a:p>
            <a:pPr indent="0" marL="0">
              <a:buNone/>
            </a:pPr>
            <a:r>
              <a:rPr lang="en-US" sz="1300" dirty="0">
                <a:solidFill>
                  <a:srgbClr val="5E7488"/>
                </a:solidFill>
                <a:latin typeface="Calibri" pitchFamily="34" charset="0"/>
                <a:ea typeface="Calibri" pitchFamily="34" charset="-122"/>
                <a:cs typeface="Calibri" pitchFamily="34" charset="-120"/>
              </a:rPr>
              <a:t>Release &amp; business — the blast radius of the release.</a:t>
            </a:r>
            <a:endParaRPr lang="en-US" sz="1300" dirty="0"/>
          </a:p>
        </p:txBody>
      </p:sp>
      <p:sp>
        <p:nvSpPr>
          <p:cNvPr id="13" name="Shape 11"/>
          <p:cNvSpPr/>
          <p:nvPr/>
        </p:nvSpPr>
        <p:spPr>
          <a:xfrm>
            <a:off x="4428744" y="2194560"/>
            <a:ext cx="3331464" cy="2880360"/>
          </a:xfrm>
          <a:prstGeom prst="roundRect">
            <a:avLst>
              <a:gd name="adj" fmla="val 3175"/>
            </a:avLst>
          </a:prstGeom>
          <a:solidFill>
            <a:srgbClr val="F2F6F9"/>
          </a:solidFill>
          <a:ln/>
          <a:effectLst>
            <a:outerShdw sx="100000" sy="100000" kx="0" ky="0" algn="bl" rotWithShape="0" blurRad="101600" dist="38100" dir="5400000">
              <a:srgbClr val="000000">
                <a:alpha val="18000"/>
              </a:srgbClr>
            </a:outerShdw>
          </a:effectLst>
        </p:spPr>
      </p:sp>
      <p:sp>
        <p:nvSpPr>
          <p:cNvPr id="14" name="Shape 12"/>
          <p:cNvSpPr/>
          <p:nvPr/>
        </p:nvSpPr>
        <p:spPr>
          <a:xfrm>
            <a:off x="4748784" y="2560320"/>
            <a:ext cx="548640" cy="676656"/>
          </a:xfrm>
          <a:prstGeom prst="roundRect">
            <a:avLst>
              <a:gd name="adj" fmla="val 6667"/>
            </a:avLst>
          </a:prstGeom>
          <a:solidFill>
            <a:srgbClr val="FFFFFF"/>
          </a:solidFill>
          <a:ln w="19050">
            <a:solidFill>
              <a:srgbClr val="12A99A"/>
            </a:solidFill>
            <a:prstDash val="solid"/>
          </a:ln>
        </p:spPr>
      </p:sp>
      <p:sp>
        <p:nvSpPr>
          <p:cNvPr id="15" name="Shape 13"/>
          <p:cNvSpPr/>
          <p:nvPr/>
        </p:nvSpPr>
        <p:spPr>
          <a:xfrm>
            <a:off x="4885944" y="2761488"/>
            <a:ext cx="274320" cy="0"/>
          </a:xfrm>
          <a:prstGeom prst="line">
            <a:avLst/>
          </a:prstGeom>
          <a:noFill/>
          <a:ln w="12700">
            <a:solidFill>
              <a:srgbClr val="12A99A"/>
            </a:solidFill>
            <a:prstDash val="solid"/>
          </a:ln>
        </p:spPr>
      </p:sp>
      <p:sp>
        <p:nvSpPr>
          <p:cNvPr id="16" name="Shape 14"/>
          <p:cNvSpPr/>
          <p:nvPr/>
        </p:nvSpPr>
        <p:spPr>
          <a:xfrm>
            <a:off x="4885944" y="2916936"/>
            <a:ext cx="274320" cy="0"/>
          </a:xfrm>
          <a:prstGeom prst="line">
            <a:avLst/>
          </a:prstGeom>
          <a:noFill/>
          <a:ln w="12700">
            <a:solidFill>
              <a:srgbClr val="12A99A"/>
            </a:solidFill>
            <a:prstDash val="solid"/>
          </a:ln>
        </p:spPr>
      </p:sp>
      <p:sp>
        <p:nvSpPr>
          <p:cNvPr id="17" name="Shape 15"/>
          <p:cNvSpPr/>
          <p:nvPr/>
        </p:nvSpPr>
        <p:spPr>
          <a:xfrm>
            <a:off x="4885944" y="3072384"/>
            <a:ext cx="164592" cy="0"/>
          </a:xfrm>
          <a:prstGeom prst="line">
            <a:avLst/>
          </a:prstGeom>
          <a:noFill/>
          <a:ln w="12700">
            <a:solidFill>
              <a:srgbClr val="12A99A"/>
            </a:solidFill>
            <a:prstDash val="solid"/>
          </a:ln>
        </p:spPr>
      </p:sp>
      <p:sp>
        <p:nvSpPr>
          <p:cNvPr id="18" name="Shape 16"/>
          <p:cNvSpPr/>
          <p:nvPr/>
        </p:nvSpPr>
        <p:spPr>
          <a:xfrm>
            <a:off x="5480304" y="2651760"/>
            <a:ext cx="1408176" cy="384048"/>
          </a:xfrm>
          <a:prstGeom prst="roundRect">
            <a:avLst>
              <a:gd name="adj" fmla="val 21429"/>
            </a:avLst>
          </a:prstGeom>
          <a:solidFill>
            <a:srgbClr val="12A99A"/>
          </a:solidFill>
          <a:ln/>
        </p:spPr>
      </p:sp>
      <p:sp>
        <p:nvSpPr>
          <p:cNvPr id="19" name="Text 17"/>
          <p:cNvSpPr/>
          <p:nvPr/>
        </p:nvSpPr>
        <p:spPr>
          <a:xfrm>
            <a:off x="5480304" y="2651760"/>
            <a:ext cx="1408176"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TEST</a:t>
            </a:r>
            <a:endParaRPr lang="en-US" sz="1100" dirty="0"/>
          </a:p>
        </p:txBody>
      </p:sp>
      <p:sp>
        <p:nvSpPr>
          <p:cNvPr id="20" name="Text 18"/>
          <p:cNvSpPr/>
          <p:nvPr/>
        </p:nvSpPr>
        <p:spPr>
          <a:xfrm>
            <a:off x="4748784" y="3566160"/>
            <a:ext cx="2691384" cy="457200"/>
          </a:xfrm>
          <a:prstGeom prst="rect">
            <a:avLst/>
          </a:prstGeom>
          <a:noFill/>
          <a:ln/>
        </p:spPr>
        <p:txBody>
          <a:bodyPr wrap="square" lIns="0" tIns="0" rIns="0" bIns="0" rtlCol="0" anchor="ctr"/>
          <a:lstStyle/>
          <a:p>
            <a:pPr indent="0" marL="0">
              <a:buNone/>
            </a:pPr>
            <a:r>
              <a:rPr lang="en-US" sz="1800" b="1" dirty="0">
                <a:solidFill>
                  <a:srgbClr val="17293C"/>
                </a:solidFill>
                <a:latin typeface="Cambria" pitchFamily="34" charset="0"/>
                <a:ea typeface="Cambria" pitchFamily="34" charset="-122"/>
                <a:cs typeface="Cambria" pitchFamily="34" charset="-120"/>
              </a:rPr>
              <a:t>Verification report</a:t>
            </a:r>
            <a:endParaRPr lang="en-US" sz="1800" dirty="0"/>
          </a:p>
        </p:txBody>
      </p:sp>
      <p:sp>
        <p:nvSpPr>
          <p:cNvPr id="21" name="Text 19"/>
          <p:cNvSpPr/>
          <p:nvPr/>
        </p:nvSpPr>
        <p:spPr>
          <a:xfrm>
            <a:off x="4748784" y="4069080"/>
            <a:ext cx="2691384" cy="868680"/>
          </a:xfrm>
          <a:prstGeom prst="rect">
            <a:avLst/>
          </a:prstGeom>
          <a:noFill/>
          <a:ln/>
        </p:spPr>
        <p:txBody>
          <a:bodyPr wrap="square" lIns="0" tIns="0" rIns="0" bIns="0" rtlCol="0" anchor="t"/>
          <a:lstStyle/>
          <a:p>
            <a:pPr indent="0" marL="0">
              <a:buNone/>
            </a:pPr>
            <a:r>
              <a:rPr lang="en-US" sz="1300" dirty="0">
                <a:solidFill>
                  <a:srgbClr val="5E7488"/>
                </a:solidFill>
                <a:latin typeface="Calibri" pitchFamily="34" charset="0"/>
                <a:ea typeface="Calibri" pitchFamily="34" charset="-122"/>
                <a:cs typeface="Calibri" pitchFamily="34" charset="-120"/>
              </a:rPr>
              <a:t>Test &amp; release — proof each API passed end-to-end.</a:t>
            </a:r>
            <a:endParaRPr lang="en-US" sz="1300" dirty="0"/>
          </a:p>
        </p:txBody>
      </p:sp>
      <p:sp>
        <p:nvSpPr>
          <p:cNvPr id="22" name="Shape 20"/>
          <p:cNvSpPr/>
          <p:nvPr/>
        </p:nvSpPr>
        <p:spPr>
          <a:xfrm>
            <a:off x="8217408" y="2194560"/>
            <a:ext cx="3331464" cy="2880360"/>
          </a:xfrm>
          <a:prstGeom prst="roundRect">
            <a:avLst>
              <a:gd name="adj" fmla="val 3175"/>
            </a:avLst>
          </a:prstGeom>
          <a:solidFill>
            <a:srgbClr val="F2F6F9"/>
          </a:solidFill>
          <a:ln/>
          <a:effectLst>
            <a:outerShdw sx="100000" sy="100000" kx="0" ky="0" algn="bl" rotWithShape="0" blurRad="101600" dist="38100" dir="5400000">
              <a:srgbClr val="000000">
                <a:alpha val="18000"/>
              </a:srgbClr>
            </a:outerShdw>
          </a:effectLst>
        </p:spPr>
      </p:sp>
      <p:sp>
        <p:nvSpPr>
          <p:cNvPr id="23" name="Shape 21"/>
          <p:cNvSpPr/>
          <p:nvPr/>
        </p:nvSpPr>
        <p:spPr>
          <a:xfrm>
            <a:off x="8537448" y="2560320"/>
            <a:ext cx="548640" cy="676656"/>
          </a:xfrm>
          <a:prstGeom prst="roundRect">
            <a:avLst>
              <a:gd name="adj" fmla="val 6667"/>
            </a:avLst>
          </a:prstGeom>
          <a:solidFill>
            <a:srgbClr val="FFFFFF"/>
          </a:solidFill>
          <a:ln w="19050">
            <a:solidFill>
              <a:srgbClr val="C9862B"/>
            </a:solidFill>
            <a:prstDash val="solid"/>
          </a:ln>
        </p:spPr>
      </p:sp>
      <p:sp>
        <p:nvSpPr>
          <p:cNvPr id="24" name="Shape 22"/>
          <p:cNvSpPr/>
          <p:nvPr/>
        </p:nvSpPr>
        <p:spPr>
          <a:xfrm>
            <a:off x="8674608" y="2761488"/>
            <a:ext cx="274320" cy="0"/>
          </a:xfrm>
          <a:prstGeom prst="line">
            <a:avLst/>
          </a:prstGeom>
          <a:noFill/>
          <a:ln w="12700">
            <a:solidFill>
              <a:srgbClr val="C9862B"/>
            </a:solidFill>
            <a:prstDash val="solid"/>
          </a:ln>
        </p:spPr>
      </p:sp>
      <p:sp>
        <p:nvSpPr>
          <p:cNvPr id="25" name="Shape 23"/>
          <p:cNvSpPr/>
          <p:nvPr/>
        </p:nvSpPr>
        <p:spPr>
          <a:xfrm>
            <a:off x="8674608" y="2916936"/>
            <a:ext cx="274320" cy="0"/>
          </a:xfrm>
          <a:prstGeom prst="line">
            <a:avLst/>
          </a:prstGeom>
          <a:noFill/>
          <a:ln w="12700">
            <a:solidFill>
              <a:srgbClr val="C9862B"/>
            </a:solidFill>
            <a:prstDash val="solid"/>
          </a:ln>
        </p:spPr>
      </p:sp>
      <p:sp>
        <p:nvSpPr>
          <p:cNvPr id="26" name="Shape 24"/>
          <p:cNvSpPr/>
          <p:nvPr/>
        </p:nvSpPr>
        <p:spPr>
          <a:xfrm>
            <a:off x="8674608" y="3072384"/>
            <a:ext cx="164592" cy="0"/>
          </a:xfrm>
          <a:prstGeom prst="line">
            <a:avLst/>
          </a:prstGeom>
          <a:noFill/>
          <a:ln w="12700">
            <a:solidFill>
              <a:srgbClr val="C9862B"/>
            </a:solidFill>
            <a:prstDash val="solid"/>
          </a:ln>
        </p:spPr>
      </p:sp>
      <p:sp>
        <p:nvSpPr>
          <p:cNvPr id="27" name="Shape 25"/>
          <p:cNvSpPr/>
          <p:nvPr/>
        </p:nvSpPr>
        <p:spPr>
          <a:xfrm>
            <a:off x="9268968" y="2651760"/>
            <a:ext cx="1600200" cy="384048"/>
          </a:xfrm>
          <a:prstGeom prst="roundRect">
            <a:avLst>
              <a:gd name="adj" fmla="val 21429"/>
            </a:avLst>
          </a:prstGeom>
          <a:solidFill>
            <a:srgbClr val="C9862B"/>
          </a:solidFill>
          <a:ln/>
        </p:spPr>
      </p:sp>
      <p:sp>
        <p:nvSpPr>
          <p:cNvPr id="28" name="Text 26"/>
          <p:cNvSpPr/>
          <p:nvPr/>
        </p:nvSpPr>
        <p:spPr>
          <a:xfrm>
            <a:off x="9268968" y="2651760"/>
            <a:ext cx="160020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IMPACT</a:t>
            </a:r>
            <a:endParaRPr lang="en-US" sz="1100" dirty="0"/>
          </a:p>
        </p:txBody>
      </p:sp>
      <p:sp>
        <p:nvSpPr>
          <p:cNvPr id="29" name="Text 27"/>
          <p:cNvSpPr/>
          <p:nvPr/>
        </p:nvSpPr>
        <p:spPr>
          <a:xfrm>
            <a:off x="8537448" y="3566160"/>
            <a:ext cx="2691384" cy="457200"/>
          </a:xfrm>
          <a:prstGeom prst="rect">
            <a:avLst/>
          </a:prstGeom>
          <a:noFill/>
          <a:ln/>
        </p:spPr>
        <p:txBody>
          <a:bodyPr wrap="square" lIns="0" tIns="0" rIns="0" bIns="0" rtlCol="0" anchor="ctr"/>
          <a:lstStyle/>
          <a:p>
            <a:pPr indent="0" marL="0">
              <a:buNone/>
            </a:pPr>
            <a:r>
              <a:rPr lang="en-US" sz="1800" b="1" dirty="0">
                <a:solidFill>
                  <a:srgbClr val="17293C"/>
                </a:solidFill>
                <a:latin typeface="Cambria" pitchFamily="34" charset="0"/>
                <a:ea typeface="Cambria" pitchFamily="34" charset="-122"/>
                <a:cs typeface="Cambria" pitchFamily="34" charset="-120"/>
              </a:rPr>
              <a:t>Impact report</a:t>
            </a:r>
            <a:endParaRPr lang="en-US" sz="1800" dirty="0"/>
          </a:p>
        </p:txBody>
      </p:sp>
      <p:sp>
        <p:nvSpPr>
          <p:cNvPr id="30" name="Text 28"/>
          <p:cNvSpPr/>
          <p:nvPr/>
        </p:nvSpPr>
        <p:spPr>
          <a:xfrm>
            <a:off x="8537448" y="4069080"/>
            <a:ext cx="2691384" cy="868680"/>
          </a:xfrm>
          <a:prstGeom prst="rect">
            <a:avLst/>
          </a:prstGeom>
          <a:noFill/>
          <a:ln/>
        </p:spPr>
        <p:txBody>
          <a:bodyPr wrap="square" lIns="0" tIns="0" rIns="0" bIns="0" rtlCol="0" anchor="t"/>
          <a:lstStyle/>
          <a:p>
            <a:pPr indent="0" marL="0">
              <a:buNone/>
            </a:pPr>
            <a:r>
              <a:rPr lang="en-US" sz="1300" dirty="0">
                <a:solidFill>
                  <a:srgbClr val="5E7488"/>
                </a:solidFill>
                <a:latin typeface="Calibri" pitchFamily="34" charset="0"/>
                <a:ea typeface="Calibri" pitchFamily="34" charset="-122"/>
                <a:cs typeface="Calibri" pitchFamily="34" charset="-120"/>
              </a:rPr>
              <a:t>Dev &amp; test — what changed, and who changed it.</a:t>
            </a:r>
            <a:endParaRPr lang="en-US" sz="1300" dirty="0"/>
          </a:p>
        </p:txBody>
      </p:sp>
      <p:sp>
        <p:nvSpPr>
          <p:cNvPr id="31" name="Text 29"/>
          <p:cNvSpPr/>
          <p:nvPr/>
        </p:nvSpPr>
        <p:spPr>
          <a:xfrm>
            <a:off x="640080" y="5623560"/>
            <a:ext cx="10908792" cy="457200"/>
          </a:xfrm>
          <a:prstGeom prst="rect">
            <a:avLst/>
          </a:prstGeom>
          <a:noFill/>
          <a:ln/>
        </p:spPr>
        <p:txBody>
          <a:bodyPr wrap="square" lIns="0" tIns="0" rIns="0" bIns="0" rtlCol="0" anchor="ctr"/>
          <a:lstStyle/>
          <a:p>
            <a:pPr algn="ctr" indent="0" marL="0">
              <a:buNone/>
            </a:pPr>
            <a:r>
              <a:rPr lang="en-US" sz="1300" i="1" dirty="0">
                <a:solidFill>
                  <a:srgbClr val="5E7488"/>
                </a:solidFill>
                <a:latin typeface="Calibri" pitchFamily="34" charset="0"/>
                <a:ea typeface="Calibri" pitchFamily="34" charset="-122"/>
                <a:cs typeface="Calibri" pitchFamily="34" charset="-120"/>
              </a:rPr>
              <a:t>Cover header · executive stat band · colour-coded sections · page footers — one design across every report.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2338"/>
        </a:solidFill>
      </p:bgPr>
    </p:bg>
    <p:spTree>
      <p:nvGrpSpPr>
        <p:cNvPr id="1" name=""/>
        <p:cNvGrpSpPr/>
        <p:nvPr/>
      </p:nvGrpSpPr>
      <p:grpSpPr>
        <a:xfrm>
          <a:off x="0" y="0"/>
          <a:ext cx="0" cy="0"/>
          <a:chOff x="0" y="0"/>
          <a:chExt cx="0" cy="0"/>
        </a:xfrm>
      </p:grpSpPr>
      <p:sp>
        <p:nvSpPr>
          <p:cNvPr id="2" name="Text 0"/>
          <p:cNvSpPr/>
          <p:nvPr/>
        </p:nvSpPr>
        <p:spPr>
          <a:xfrm>
            <a:off x="640080" y="502920"/>
            <a:ext cx="10908792"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How TraceGuard helps you ship with confidence</a:t>
            </a:r>
            <a:endParaRPr lang="en-US" sz="3000" dirty="0"/>
          </a:p>
        </p:txBody>
      </p:sp>
      <p:sp>
        <p:nvSpPr>
          <p:cNvPr id="3" name="Shape 1"/>
          <p:cNvSpPr/>
          <p:nvPr/>
        </p:nvSpPr>
        <p:spPr>
          <a:xfrm>
            <a:off x="640080" y="1600200"/>
            <a:ext cx="5271516" cy="1417320"/>
          </a:xfrm>
          <a:prstGeom prst="roundRect">
            <a:avLst>
              <a:gd name="adj" fmla="val 5806"/>
            </a:avLst>
          </a:prstGeom>
          <a:solidFill>
            <a:srgbClr val="17324B"/>
          </a:solidFill>
          <a:ln/>
        </p:spPr>
      </p:sp>
      <p:sp>
        <p:nvSpPr>
          <p:cNvPr id="4" name="Shape 2"/>
          <p:cNvSpPr/>
          <p:nvPr/>
        </p:nvSpPr>
        <p:spPr>
          <a:xfrm>
            <a:off x="960120" y="2057400"/>
            <a:ext cx="457200" cy="457200"/>
          </a:xfrm>
          <a:prstGeom prst="ellipse">
            <a:avLst/>
          </a:prstGeom>
          <a:solidFill>
            <a:srgbClr val="2E6CA4"/>
          </a:solidFill>
          <a:ln/>
        </p:spPr>
      </p:sp>
      <p:sp>
        <p:nvSpPr>
          <p:cNvPr id="5" name="Text 3"/>
          <p:cNvSpPr/>
          <p:nvPr/>
        </p:nvSpPr>
        <p:spPr>
          <a:xfrm>
            <a:off x="1645920" y="1856232"/>
            <a:ext cx="4037076"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Business</a:t>
            </a:r>
            <a:endParaRPr lang="en-US" sz="1800" dirty="0"/>
          </a:p>
        </p:txBody>
      </p:sp>
      <p:sp>
        <p:nvSpPr>
          <p:cNvPr id="6" name="Text 4"/>
          <p:cNvSpPr/>
          <p:nvPr/>
        </p:nvSpPr>
        <p:spPr>
          <a:xfrm>
            <a:off x="1645920" y="2313432"/>
            <a:ext cx="4037076" cy="594360"/>
          </a:xfrm>
          <a:prstGeom prst="rect">
            <a:avLst/>
          </a:prstGeom>
          <a:noFill/>
          <a:ln/>
        </p:spPr>
        <p:txBody>
          <a:bodyPr wrap="square" lIns="0" tIns="0" rIns="0" bIns="0" rtlCol="0" anchor="t"/>
          <a:lstStyle/>
          <a:p>
            <a:pPr indent="0" marL="0">
              <a:buNone/>
            </a:pPr>
            <a:r>
              <a:rPr lang="en-US" sz="1300" dirty="0">
                <a:solidFill>
                  <a:srgbClr val="CFE0F3"/>
                </a:solidFill>
                <a:latin typeface="Calibri" pitchFamily="34" charset="0"/>
                <a:ea typeface="Calibri" pitchFamily="34" charset="-122"/>
                <a:cs typeface="Calibri" pitchFamily="34" charset="-120"/>
              </a:rPr>
              <a:t>Visibility into scope and readiness — a clear go / no-go.</a:t>
            </a:r>
            <a:endParaRPr lang="en-US" sz="1300" dirty="0"/>
          </a:p>
        </p:txBody>
      </p:sp>
      <p:sp>
        <p:nvSpPr>
          <p:cNvPr id="7" name="Shape 5"/>
          <p:cNvSpPr/>
          <p:nvPr/>
        </p:nvSpPr>
        <p:spPr>
          <a:xfrm>
            <a:off x="6277356" y="1600200"/>
            <a:ext cx="5271516" cy="1417320"/>
          </a:xfrm>
          <a:prstGeom prst="roundRect">
            <a:avLst>
              <a:gd name="adj" fmla="val 5806"/>
            </a:avLst>
          </a:prstGeom>
          <a:solidFill>
            <a:srgbClr val="17324B"/>
          </a:solidFill>
          <a:ln/>
        </p:spPr>
      </p:sp>
      <p:sp>
        <p:nvSpPr>
          <p:cNvPr id="8" name="Shape 6"/>
          <p:cNvSpPr/>
          <p:nvPr/>
        </p:nvSpPr>
        <p:spPr>
          <a:xfrm>
            <a:off x="6597396" y="2057400"/>
            <a:ext cx="457200" cy="457200"/>
          </a:xfrm>
          <a:prstGeom prst="ellipse">
            <a:avLst/>
          </a:prstGeom>
          <a:solidFill>
            <a:srgbClr val="C9862B"/>
          </a:solidFill>
          <a:ln/>
        </p:spPr>
      </p:sp>
      <p:sp>
        <p:nvSpPr>
          <p:cNvPr id="9" name="Text 7"/>
          <p:cNvSpPr/>
          <p:nvPr/>
        </p:nvSpPr>
        <p:spPr>
          <a:xfrm>
            <a:off x="7283196" y="1856232"/>
            <a:ext cx="4037076"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Dev</a:t>
            </a:r>
            <a:endParaRPr lang="en-US" sz="1800" dirty="0"/>
          </a:p>
        </p:txBody>
      </p:sp>
      <p:sp>
        <p:nvSpPr>
          <p:cNvPr id="10" name="Text 8"/>
          <p:cNvSpPr/>
          <p:nvPr/>
        </p:nvSpPr>
        <p:spPr>
          <a:xfrm>
            <a:off x="7283196" y="2313432"/>
            <a:ext cx="4037076" cy="594360"/>
          </a:xfrm>
          <a:prstGeom prst="rect">
            <a:avLst/>
          </a:prstGeom>
          <a:noFill/>
          <a:ln/>
        </p:spPr>
        <p:txBody>
          <a:bodyPr wrap="square" lIns="0" tIns="0" rIns="0" bIns="0" rtlCol="0" anchor="t"/>
          <a:lstStyle/>
          <a:p>
            <a:pPr indent="0" marL="0">
              <a:buNone/>
            </a:pPr>
            <a:r>
              <a:rPr lang="en-US" sz="1300" dirty="0">
                <a:solidFill>
                  <a:srgbClr val="CFE0F3"/>
                </a:solidFill>
                <a:latin typeface="Calibri" pitchFamily="34" charset="0"/>
                <a:ea typeface="Calibri" pitchFamily="34" charset="-122"/>
                <a:cs typeface="Calibri" pitchFamily="34" charset="-120"/>
              </a:rPr>
              <a:t>Exactly what changed this release, and who changed it.</a:t>
            </a:r>
            <a:endParaRPr lang="en-US" sz="1300" dirty="0"/>
          </a:p>
        </p:txBody>
      </p:sp>
      <p:sp>
        <p:nvSpPr>
          <p:cNvPr id="11" name="Shape 9"/>
          <p:cNvSpPr/>
          <p:nvPr/>
        </p:nvSpPr>
        <p:spPr>
          <a:xfrm>
            <a:off x="640080" y="3337560"/>
            <a:ext cx="5271516" cy="1417320"/>
          </a:xfrm>
          <a:prstGeom prst="roundRect">
            <a:avLst>
              <a:gd name="adj" fmla="val 5806"/>
            </a:avLst>
          </a:prstGeom>
          <a:solidFill>
            <a:srgbClr val="17324B"/>
          </a:solidFill>
          <a:ln/>
        </p:spPr>
      </p:sp>
      <p:sp>
        <p:nvSpPr>
          <p:cNvPr id="12" name="Shape 10"/>
          <p:cNvSpPr/>
          <p:nvPr/>
        </p:nvSpPr>
        <p:spPr>
          <a:xfrm>
            <a:off x="960120" y="3794760"/>
            <a:ext cx="457200" cy="457200"/>
          </a:xfrm>
          <a:prstGeom prst="ellipse">
            <a:avLst/>
          </a:prstGeom>
          <a:solidFill>
            <a:srgbClr val="12A99A"/>
          </a:solidFill>
          <a:ln/>
        </p:spPr>
      </p:sp>
      <p:sp>
        <p:nvSpPr>
          <p:cNvPr id="13" name="Text 11"/>
          <p:cNvSpPr/>
          <p:nvPr/>
        </p:nvSpPr>
        <p:spPr>
          <a:xfrm>
            <a:off x="1645920" y="3593592"/>
            <a:ext cx="4037076"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Test</a:t>
            </a:r>
            <a:endParaRPr lang="en-US" sz="1800" dirty="0"/>
          </a:p>
        </p:txBody>
      </p:sp>
      <p:sp>
        <p:nvSpPr>
          <p:cNvPr id="14" name="Text 12"/>
          <p:cNvSpPr/>
          <p:nvPr/>
        </p:nvSpPr>
        <p:spPr>
          <a:xfrm>
            <a:off x="1645920" y="4050792"/>
            <a:ext cx="4037076" cy="594360"/>
          </a:xfrm>
          <a:prstGeom prst="rect">
            <a:avLst/>
          </a:prstGeom>
          <a:noFill/>
          <a:ln/>
        </p:spPr>
        <p:txBody>
          <a:bodyPr wrap="square" lIns="0" tIns="0" rIns="0" bIns="0" rtlCol="0" anchor="t"/>
          <a:lstStyle/>
          <a:p>
            <a:pPr indent="0" marL="0">
              <a:buNone/>
            </a:pPr>
            <a:r>
              <a:rPr lang="en-US" sz="1300" dirty="0">
                <a:solidFill>
                  <a:srgbClr val="CFE0F3"/>
                </a:solidFill>
                <a:latin typeface="Calibri" pitchFamily="34" charset="0"/>
                <a:ea typeface="Calibri" pitchFamily="34" charset="-122"/>
                <a:cs typeface="Calibri" pitchFamily="34" charset="-120"/>
              </a:rPr>
              <a:t>What to test, and the evidence it passed end-to-end.</a:t>
            </a:r>
            <a:endParaRPr lang="en-US" sz="1300" dirty="0"/>
          </a:p>
        </p:txBody>
      </p:sp>
      <p:sp>
        <p:nvSpPr>
          <p:cNvPr id="15" name="Shape 13"/>
          <p:cNvSpPr/>
          <p:nvPr/>
        </p:nvSpPr>
        <p:spPr>
          <a:xfrm>
            <a:off x="6277356" y="3337560"/>
            <a:ext cx="5271516" cy="1417320"/>
          </a:xfrm>
          <a:prstGeom prst="roundRect">
            <a:avLst>
              <a:gd name="adj" fmla="val 5806"/>
            </a:avLst>
          </a:prstGeom>
          <a:solidFill>
            <a:srgbClr val="17324B"/>
          </a:solidFill>
          <a:ln/>
        </p:spPr>
      </p:sp>
      <p:sp>
        <p:nvSpPr>
          <p:cNvPr id="16" name="Shape 14"/>
          <p:cNvSpPr/>
          <p:nvPr/>
        </p:nvSpPr>
        <p:spPr>
          <a:xfrm>
            <a:off x="6597396" y="3794760"/>
            <a:ext cx="457200" cy="457200"/>
          </a:xfrm>
          <a:prstGeom prst="ellipse">
            <a:avLst/>
          </a:prstGeom>
          <a:solidFill>
            <a:srgbClr val="7C93AC"/>
          </a:solidFill>
          <a:ln/>
        </p:spPr>
      </p:sp>
      <p:sp>
        <p:nvSpPr>
          <p:cNvPr id="17" name="Text 15"/>
          <p:cNvSpPr/>
          <p:nvPr/>
        </p:nvSpPr>
        <p:spPr>
          <a:xfrm>
            <a:off x="7283196" y="3593592"/>
            <a:ext cx="4037076"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Release</a:t>
            </a:r>
            <a:endParaRPr lang="en-US" sz="1800" dirty="0"/>
          </a:p>
        </p:txBody>
      </p:sp>
      <p:sp>
        <p:nvSpPr>
          <p:cNvPr id="18" name="Text 16"/>
          <p:cNvSpPr/>
          <p:nvPr/>
        </p:nvSpPr>
        <p:spPr>
          <a:xfrm>
            <a:off x="7283196" y="4050792"/>
            <a:ext cx="4037076" cy="594360"/>
          </a:xfrm>
          <a:prstGeom prst="rect">
            <a:avLst/>
          </a:prstGeom>
          <a:noFill/>
          <a:ln/>
        </p:spPr>
        <p:txBody>
          <a:bodyPr wrap="square" lIns="0" tIns="0" rIns="0" bIns="0" rtlCol="0" anchor="t"/>
          <a:lstStyle/>
          <a:p>
            <a:pPr indent="0" marL="0">
              <a:buNone/>
            </a:pPr>
            <a:r>
              <a:rPr lang="en-US" sz="1300" dirty="0">
                <a:solidFill>
                  <a:srgbClr val="CFE0F3"/>
                </a:solidFill>
                <a:latin typeface="Calibri" pitchFamily="34" charset="0"/>
                <a:ea typeface="Calibri" pitchFamily="34" charset="-122"/>
                <a:cs typeface="Calibri" pitchFamily="34" charset="-120"/>
              </a:rPr>
              <a:t>One consolidated, signed-off record for every release.</a:t>
            </a:r>
            <a:endParaRPr lang="en-US" sz="1300" dirty="0"/>
          </a:p>
        </p:txBody>
      </p:sp>
      <p:sp>
        <p:nvSpPr>
          <p:cNvPr id="19" name="Text 17"/>
          <p:cNvSpPr/>
          <p:nvPr/>
        </p:nvSpPr>
        <p:spPr>
          <a:xfrm>
            <a:off x="640080" y="5806440"/>
            <a:ext cx="10908792" cy="548640"/>
          </a:xfrm>
          <a:prstGeom prst="rect">
            <a:avLst/>
          </a:prstGeom>
          <a:noFill/>
          <a:ln/>
        </p:spPr>
        <p:txBody>
          <a:bodyPr wrap="square" lIns="0" tIns="0" rIns="0" bIns="0" rtlCol="0" anchor="ctr"/>
          <a:lstStyle/>
          <a:p>
            <a:pPr algn="ctr" indent="0" marL="0">
              <a:buNone/>
            </a:pPr>
            <a:r>
              <a:rPr lang="en-US" sz="2200" b="1" i="1" dirty="0">
                <a:solidFill>
                  <a:srgbClr val="FFFFFF"/>
                </a:solidFill>
                <a:latin typeface="Cambria" pitchFamily="34" charset="0"/>
                <a:ea typeface="Cambria" pitchFamily="34" charset="-122"/>
                <a:cs typeface="Cambria" pitchFamily="34" charset="-120"/>
              </a:rPr>
              <a:t>Trace the flow.  </a:t>
            </a:r>
            <a:pPr algn="ctr" indent="0" marL="0">
              <a:buNone/>
            </a:pPr>
            <a:r>
              <a:rPr lang="en-US" sz="2200" b="1" i="1" dirty="0">
                <a:solidFill>
                  <a:srgbClr val="12A99A"/>
                </a:solidFill>
                <a:latin typeface="Cambria" pitchFamily="34" charset="0"/>
                <a:ea typeface="Cambria" pitchFamily="34" charset="-122"/>
                <a:cs typeface="Cambria" pitchFamily="34" charset="-120"/>
              </a:rPr>
              <a:t>Guard the release.</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TraceGuard</dc:title>
  <dc:subject>PptxGenJS Presentation</dc:subject>
  <dc:creator>TraceGuard</dc:creator>
  <cp:lastModifiedBy>TraceGuard</cp:lastModifiedBy>
  <cp:revision>1</cp:revision>
  <dcterms:created xsi:type="dcterms:W3CDTF">2026-07-03T11:02:39Z</dcterms:created>
  <dcterms:modified xsi:type="dcterms:W3CDTF">2026-07-03T11:02:39Z</dcterms:modified>
</cp:coreProperties>
</file>